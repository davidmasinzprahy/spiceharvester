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18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5" r:id="rId23"/>
    <p:sldId id="274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4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104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95" d="100"/>
          <a:sy n="95" d="100"/>
        </p:scale>
        <p:origin x="4008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7.xml"/><Relationship Id="rId18" Type="http://schemas.openxmlformats.org/officeDocument/2006/relationships/handoutMaster" Target="handoutMasters/handout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>
            <a:extLst>
              <a:ext uri="{FF2B5EF4-FFF2-40B4-BE49-F238E27FC236}">
                <a16:creationId xmlns:a16="http://schemas.microsoft.com/office/drawing/2014/main" id="{F53D9FB6-F253-DE24-6C7F-A853D67C3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68F7347C-F0E1-D6CC-E790-B6D50D05BA3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CF4932-E4B7-F94D-8B24-1930869AC884}" type="datetimeFigureOut">
              <a:rPr lang="cs-CZ" smtClean="0"/>
              <a:t>03.05.2026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3D1D07CD-A335-C57F-65E5-05AFB287125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47E8D5C0-87AB-798B-1268-E39DAE1D7BF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DDC4B0-186C-CF48-BADC-E781F3395D0B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6321736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Skupina 6">
            <a:extLst>
              <a:ext uri="{FF2B5EF4-FFF2-40B4-BE49-F238E27FC236}">
                <a16:creationId xmlns:a16="http://schemas.microsoft.com/office/drawing/2014/main" id="{6550C924-DE76-7971-5890-2546FAC049B5}"/>
              </a:ext>
            </a:extLst>
          </p:cNvPr>
          <p:cNvGrpSpPr/>
          <p:nvPr userDrawn="1"/>
        </p:nvGrpSpPr>
        <p:grpSpPr>
          <a:xfrm>
            <a:off x="11292840" y="386080"/>
            <a:ext cx="640080" cy="640080"/>
            <a:chOff x="11292840" y="182880"/>
            <a:chExt cx="640080" cy="640080"/>
          </a:xfrm>
        </p:grpSpPr>
        <p:sp>
          <p:nvSpPr>
            <p:cNvPr id="5" name="__brand_circle"/>
            <p:cNvSpPr/>
            <p:nvPr/>
          </p:nvSpPr>
          <p:spPr>
            <a:xfrm>
              <a:off x="11292840" y="182880"/>
              <a:ext cx="640080" cy="640080"/>
            </a:xfrm>
            <a:prstGeom prst="ellipse">
              <a:avLst/>
            </a:prstGeom>
            <a:solidFill>
              <a:srgbClr val="065A8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6" name="__brand_icon" descr="kombajn-white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11712" y="301752"/>
              <a:ext cx="402336" cy="402336"/>
            </a:xfrm>
            <a:prstGeom prst="rect">
              <a:avLst/>
            </a:prstGeom>
          </p:spPr>
        </p:pic>
      </p:grpSp>
      <p:sp>
        <p:nvSpPr>
          <p:cNvPr id="8" name="Rectangle 1">
            <a:extLst>
              <a:ext uri="{FF2B5EF4-FFF2-40B4-BE49-F238E27FC236}">
                <a16:creationId xmlns:a16="http://schemas.microsoft.com/office/drawing/2014/main" id="{2C273D43-2F61-5D97-96BF-DF4198B64D3F}"/>
              </a:ext>
            </a:extLst>
          </p:cNvPr>
          <p:cNvSpPr/>
          <p:nvPr userDrawn="1"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EE8CA9C-F161-8016-996F-BD3D19C62368}"/>
              </a:ext>
            </a:extLst>
          </p:cNvPr>
          <p:cNvSpPr/>
          <p:nvPr userDrawn="1"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252460" y="1623060"/>
            <a:ext cx="3611880" cy="3611880"/>
          </a:xfrm>
          <a:prstGeom prst="ellipse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412480" y="1783080"/>
            <a:ext cx="3291840" cy="32918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kombajn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423160"/>
            <a:ext cx="2011680" cy="2011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4630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F5B041"/>
                </a:solidFill>
                <a:latin typeface="Calibri"/>
              </a:rPr>
              <a:t>MACOS · SWIFTUI · LOKÁLNÍ 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7315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200" b="1" i="0" dirty="0" err="1">
                <a:solidFill>
                  <a:srgbClr val="FFFFFF"/>
                </a:solidFill>
                <a:latin typeface="Calibri"/>
              </a:rPr>
              <a:t>SpiceHarvester</a:t>
            </a:r>
            <a:endParaRPr sz="72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7315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Calibri"/>
              </a:rPr>
              <a:t>Dávkové vytěžování dat z PDF dokumentů
bez cloudu, jen s lokálním modelem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212080"/>
            <a:ext cx="7315200" cy="100584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5349240"/>
            <a:ext cx="68580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Analýza kódu a přehled funkcí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 i="0">
                <a:solidFill>
                  <a:srgbClr val="B8C8E0"/>
                </a:solidFill>
                <a:latin typeface="Calibri"/>
              </a:rPr>
              <a:t>David Mašín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Co SpiceHarvester dělá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Z PDF do strukturovaného JSON jedním kliknutím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600" b="0" i="0">
                <a:solidFill>
                  <a:srgbClr val="1B223A"/>
                </a:solidFill>
                <a:latin typeface="Calibri"/>
              </a:rPr>
              <a:t>SpiceHarvester je nativní macOS desktop aplikace, která dávkově projde složku s PDF dokumenty, vytěží z nich data podle vašeho promptu a vyexportuje výsledky do JSON / TXT / CSV.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600" b="0" i="0">
                <a:solidFill>
                  <a:srgbClr val="1B223A"/>
                </a:solidFill>
                <a:latin typeface="Calibri"/>
              </a:rPr>
              <a:t>Veškerá inference běží na lokálním OpenAI-kompatibilním serveru (LM Studio nebo MLX). Žádný cloud, žádná telemetrie, data neopouští počítač uživatele.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383280"/>
            <a:ext cx="3657600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3383280"/>
            <a:ext cx="365760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85800" y="3657600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8056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21295C"/>
                </a:solidFill>
                <a:latin typeface="Calibri"/>
              </a:rPr>
              <a:t>Předzpracování + cache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8348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5C6B82"/>
                </a:solidFill>
                <a:latin typeface="Calibri"/>
              </a:rPr>
              <a:t>Scan složky · SHA-256 hash · PDFKit extrakce · Vision OCR fallback · cleaner · per-dokument JSON cache.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3383280"/>
            <a:ext cx="3657600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97680" y="3383280"/>
            <a:ext cx="365760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480560" y="3657600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80560" y="3767328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48056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21295C"/>
                </a:solidFill>
                <a:latin typeface="Calibri"/>
              </a:rPr>
              <a:t>Inference přes lokální 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498348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5C6B82"/>
                </a:solidFill>
                <a:latin typeface="Calibri"/>
              </a:rPr>
              <a:t>Tři režimy (FAST / SEARCH / CONSOLIDATE), pre-flight token check, auto-detekce kontextu, retry na transient chyby.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3383280"/>
            <a:ext cx="3657600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92440" y="3383280"/>
            <a:ext cx="365760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275320" y="3657600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75320" y="3767328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48056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21295C"/>
                </a:solidFill>
                <a:latin typeface="Calibri"/>
              </a:rPr>
              <a:t>Export a kontrola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98348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5C6B82"/>
                </a:solidFill>
                <a:latin typeface="Calibri"/>
              </a:rPr>
              <a:t>JSON kanonický, CSV s UTF-8 BOM pro Excel, TXT, raw odpovědi modelu pro audit. Speciální markery `=====CSV=====` / `=====TXT=====`.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5B041"/>
                </a:solidFill>
                <a:latin typeface="Calibri"/>
              </a:rPr>
              <a:t>PRIVACY  ·  COMPLIANCE  · 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Vše ve vašem Macu.
Lokálně.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108960"/>
            <a:ext cx="3322320" cy="146304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3108960"/>
            <a:ext cx="3322320" cy="73152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3337560"/>
            <a:ext cx="2773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PDF dokumenty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40"/>
            <a:ext cx="2773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C8D4E6"/>
                </a:solidFill>
                <a:latin typeface="Calibri"/>
              </a:rPr>
              <a:t>Originály i extrahovaný text zůstávají
v uživatelem zvolené složce.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9600" y="3108960"/>
            <a:ext cx="3322320" cy="146304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419600" y="3108960"/>
            <a:ext cx="3322320" cy="73152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93920" y="3337560"/>
            <a:ext cx="2773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Lokální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3920" y="3749040"/>
            <a:ext cx="2773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C8D4E6"/>
                </a:solidFill>
                <a:latin typeface="Calibri"/>
              </a:rPr>
              <a:t>LM Studio nebo MLX server běží
na stejném počítači — žádný API call ven.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16240" y="3108960"/>
            <a:ext cx="3322320" cy="146304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16240" y="3108960"/>
            <a:ext cx="3322320" cy="73152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90560" y="3337560"/>
            <a:ext cx="2773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Cache + výstup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560" y="3749040"/>
            <a:ext cx="2773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C8D4E6"/>
                </a:solidFill>
                <a:latin typeface="Calibri"/>
              </a:rPr>
              <a:t>JSON / CSV / TXT / raw odpovědi
se ukládají vedle vstupních PDF.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983480"/>
            <a:ext cx="10515600" cy="118872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" y="4983480"/>
            <a:ext cx="109728" cy="118872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43000" y="518464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5B041"/>
                </a:solidFill>
                <a:latin typeface="Calibri"/>
              </a:rPr>
              <a:t>Co aplikace NEDĚLÁ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623560"/>
            <a:ext cx="1673352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43000" y="5623560"/>
            <a:ext cx="167335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✗  žádný cloud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80944" y="5623560"/>
            <a:ext cx="2267712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980944" y="5623560"/>
            <a:ext cx="226771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✗  žádná telemetrie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13248" y="5623560"/>
            <a:ext cx="155448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13248" y="562356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✗  žádný účet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0" y="5623560"/>
            <a:ext cx="214884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32320" y="562356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✗  žádné API klíče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45752" y="5623560"/>
            <a:ext cx="1755648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445752" y="5736689"/>
            <a:ext cx="1755648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dirty="0">
                <a:solidFill>
                  <a:srgbClr val="FFFFFF"/>
                </a:solidFill>
                <a:latin typeface="Calibri"/>
              </a:rPr>
              <a:t>✗  </a:t>
            </a:r>
            <a:r>
              <a:rPr sz="1100" b="1" i="0" dirty="0" err="1">
                <a:solidFill>
                  <a:srgbClr val="FFFFFF"/>
                </a:solidFill>
                <a:latin typeface="Calibri"/>
              </a:rPr>
              <a:t>žádný</a:t>
            </a:r>
            <a:r>
              <a:rPr sz="11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00" b="1" i="0" dirty="0" err="1">
                <a:solidFill>
                  <a:srgbClr val="FFFFFF"/>
                </a:solidFill>
                <a:latin typeface="Calibri"/>
              </a:rPr>
              <a:t>měsíční</a:t>
            </a:r>
            <a:r>
              <a:rPr sz="11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00" b="1" i="0" dirty="0" err="1">
                <a:solidFill>
                  <a:srgbClr val="FFFFFF"/>
                </a:solidFill>
                <a:latin typeface="Calibri"/>
              </a:rPr>
              <a:t>poplatek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22960" y="64465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8C8E0"/>
                </a:solidFill>
                <a:latin typeface="Calibri"/>
              </a:rPr>
              <a:t>Pacientská, právní i finanční data se nikdy nedostanou ven z počítače.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8C8E0"/>
                </a:solidFill>
                <a:latin typeface="Calibr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5B041"/>
                </a:solidFill>
                <a:latin typeface="Calibri"/>
              </a:rPr>
              <a:t>HARDWARE  ·  SOFTWARE  ·  LLM PROVIDERS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Co k tomu potřebujete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C8D4E6"/>
                </a:solidFill>
                <a:latin typeface="Calibri"/>
              </a:rPr>
              <a:t>Stačí vám jeden Mac. Pro velké modely lze model přesunout na výkonnější stroj v lokální síti.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5440680" cy="242316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5440680" cy="73152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32888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1. Mac, na kterém běží aplikace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98648"/>
            <a:ext cx="49834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5B041"/>
                </a:solidFill>
                <a:latin typeface="Calibri"/>
              </a:rPr>
              <a:t>Hardware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172968"/>
            <a:ext cx="4983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Apple Silicon — M1, M2, M3 nebo M4   (Intel Mac není podporován)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Min. 16 GB RAM  ·  doporučeno 32 GB+ pro větší modely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~ 5–50 GB volného místa pro modely a cache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023360"/>
            <a:ext cx="49834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5B041"/>
                </a:solidFill>
                <a:latin typeface="Calibri"/>
              </a:rPr>
              <a:t>Software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297680"/>
            <a:ext cx="4983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macOS 14 Sonoma nebo novější   ·   samotná aplikace SpiceHarvester (.app)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60" y="2331720"/>
            <a:ext cx="5440680" cy="242316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537960" y="2331720"/>
            <a:ext cx="5440680" cy="73152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532888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2. LLM provider (kde běží model)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898648"/>
            <a:ext cx="49834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C8D4E6"/>
                </a:solidFill>
                <a:latin typeface="Calibri"/>
              </a:rPr>
              <a:t>Stačí libovolný OpenAI-kompatibilní server</a:t>
            </a:r>
          </a:p>
        </p:txBody>
      </p:sp>
      <p:sp>
        <p:nvSpPr>
          <p:cNvPr id="17" name="Oval 16"/>
          <p:cNvSpPr/>
          <p:nvPr/>
        </p:nvSpPr>
        <p:spPr>
          <a:xfrm>
            <a:off x="6839712" y="3346704"/>
            <a:ext cx="128016" cy="128016"/>
          </a:xfrm>
          <a:prstGeom prst="ellipse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086600" y="32918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LM Studio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438144"/>
            <a:ext cx="4709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8D4E6"/>
                </a:solidFill>
                <a:latin typeface="Calibri"/>
              </a:rPr>
              <a:t>GUI aplikace, doporučeno pro start. Auto-detekce kontextu, modely se stahují jedním klikem.</a:t>
            </a:r>
          </a:p>
        </p:txBody>
      </p:sp>
      <p:sp>
        <p:nvSpPr>
          <p:cNvPr id="20" name="Oval 19"/>
          <p:cNvSpPr/>
          <p:nvPr/>
        </p:nvSpPr>
        <p:spPr>
          <a:xfrm>
            <a:off x="6839712" y="3712464"/>
            <a:ext cx="128016" cy="128016"/>
          </a:xfrm>
          <a:prstGeom prst="ellipse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86600" y="36576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MLX server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803904"/>
            <a:ext cx="4709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8D4E6"/>
                </a:solidFill>
                <a:latin typeface="Calibri"/>
              </a:rPr>
              <a:t>CLI (Apple MLX framework). Nejrychlejší inference na Apple Silicon.</a:t>
            </a:r>
          </a:p>
        </p:txBody>
      </p:sp>
      <p:sp>
        <p:nvSpPr>
          <p:cNvPr id="23" name="Oval 22"/>
          <p:cNvSpPr/>
          <p:nvPr/>
        </p:nvSpPr>
        <p:spPr>
          <a:xfrm>
            <a:off x="6839712" y="4078224"/>
            <a:ext cx="128016" cy="128016"/>
          </a:xfrm>
          <a:prstGeom prst="ellipse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086600" y="402336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Ollama  (s OpenAI-compat shim)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4169664"/>
            <a:ext cx="4709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8D4E6"/>
                </a:solidFill>
                <a:latin typeface="Calibri"/>
              </a:rPr>
              <a:t>Populární CLI. Funguje přes OpenAI-kompatibilní endpoint.</a:t>
            </a:r>
          </a:p>
        </p:txBody>
      </p:sp>
      <p:sp>
        <p:nvSpPr>
          <p:cNvPr id="26" name="Oval 25"/>
          <p:cNvSpPr/>
          <p:nvPr/>
        </p:nvSpPr>
        <p:spPr>
          <a:xfrm>
            <a:off x="6839712" y="4443984"/>
            <a:ext cx="128016" cy="128016"/>
          </a:xfrm>
          <a:prstGeom prst="ellipse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86600" y="43891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Jakýkoli další server s OpenAI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535424"/>
            <a:ext cx="4709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8D4E6"/>
                </a:solidFill>
                <a:latin typeface="Calibri"/>
              </a:rPr>
              <a:t>vLLM, llama.cpp server, LocalAI a další — endpoint /v1/chat/completions.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83480"/>
            <a:ext cx="11155680" cy="128016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22960" y="4983480"/>
            <a:ext cx="109728" cy="128016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43000" y="5148072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5B041"/>
                </a:solidFill>
                <a:latin typeface="Calibri"/>
              </a:rPr>
              <a:t>Pro velké modely:  model na jiném stroji v lokální síti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48640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C8D4E6"/>
                </a:solidFill>
                <a:latin typeface="Calibri"/>
              </a:rPr>
              <a:t>V Předvolbách změníte adresu serveru z localhost na IP stroje v LAN (např. http://192.168.1.50:1234/v1).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5852160"/>
            <a:ext cx="164592" cy="32004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417320" y="58521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Výkonnější Mac (Mac Studio M2/M3 Ultra) — větší RAM = větší modely (70B+).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46520" y="5852160"/>
            <a:ext cx="164592" cy="32004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20840" y="58521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NVIDIA DGX Spark (GB10) — desktop AI workstation pro modely 100 B+ parametrů.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4465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B8C8E0"/>
                </a:solidFill>
                <a:latin typeface="Calibri"/>
              </a:rPr>
              <a:t>Aplikace komunikuje pouze HTTP(S) na zvolenou adresu — žádný cloud, žádné API klíče, data zůstávají v LAN.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8C8E0"/>
                </a:solidFill>
                <a:latin typeface="Calibr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Náhled hlavního okna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Dvousloupcový HSplitView · konfigurace vlevo, runtime vpravo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5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417320"/>
            <a:ext cx="10607040" cy="4572000"/>
          </a:xfrm>
          <a:prstGeom prst="rect">
            <a:avLst/>
          </a:prstGeom>
          <a:solidFill>
            <a:srgbClr val="ECF0F4"/>
          </a:solidFill>
          <a:ln w="9525">
            <a:solidFill>
              <a:srgbClr val="C4C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1417320"/>
            <a:ext cx="10607040" cy="384048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05256" y="1536192"/>
            <a:ext cx="146304" cy="146304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1288" y="1536192"/>
            <a:ext cx="146304" cy="146304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417320" y="1536192"/>
            <a:ext cx="146304" cy="146304"/>
          </a:xfrm>
          <a:prstGeom prst="ellipse">
            <a:avLst/>
          </a:prstGeom>
          <a:solidFill>
            <a:srgbClr val="88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874520" y="14813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SpiceHarvester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87000" y="1481328"/>
            <a:ext cx="7315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287000" y="148132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21295C"/>
                </a:solidFill>
                <a:latin typeface="Calibri"/>
              </a:rPr>
              <a:t>Help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1481328"/>
            <a:ext cx="9144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281160" y="148132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21295C"/>
                </a:solidFill>
                <a:latin typeface="Calibri"/>
              </a:rPr>
              <a:t>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80" y="1481328"/>
            <a:ext cx="1005840" cy="256032"/>
          </a:xfrm>
          <a:prstGeom prst="rect">
            <a:avLst/>
          </a:prstGeom>
          <a:solidFill>
            <a:srgbClr val="065A82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83880" y="1481328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Spustit</a:t>
            </a:r>
          </a:p>
        </p:txBody>
      </p:sp>
      <p:sp>
        <p:nvSpPr>
          <p:cNvPr id="20" name="Oval 19"/>
          <p:cNvSpPr/>
          <p:nvPr/>
        </p:nvSpPr>
        <p:spPr>
          <a:xfrm>
            <a:off x="7045452" y="1549908"/>
            <a:ext cx="118872" cy="118872"/>
          </a:xfrm>
          <a:prstGeom prst="ellipse">
            <a:avLst/>
          </a:prstGeom>
          <a:solidFill>
            <a:srgbClr val="88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23760" y="1481328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21295C"/>
                </a:solidFill>
                <a:latin typeface="Calibri"/>
              </a:rPr>
              <a:t>Připraveno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1874520"/>
            <a:ext cx="50292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97280" y="196596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Složky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2258568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Vstupní:  ~/Documents/PDFs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2514600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Výstupní:  ~/Documents/Vystupy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2770632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Cache:  ~/Library/Caches/SH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3044952"/>
            <a:ext cx="50292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97280" y="3136392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Server a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429000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Server:  http://localhost:1234/v1   [Ověřit]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85032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Inference:  qwen2.5-14b-instruct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3941064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Režim:  [ FAST ]  [ SEARCH ]  [ CONSOLIDATE 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4443984"/>
            <a:ext cx="502920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97280" y="4535424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Prompt   [ Načíst .md 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4828032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Vrať pro každý PDF JSON s poli: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5084064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  · patient_name, birth_date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340096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  · diagnoses (ICD-10), medication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1874520"/>
            <a:ext cx="512064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09360" y="196596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Průběh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2258568"/>
            <a:ext cx="4754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Fáze: Extrakce  ·  Dokumenty: 47 / 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2514600"/>
            <a:ext cx="4754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Aktuální: zprava_2024_03_12.pdf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2770632"/>
            <a:ext cx="4754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Cache: 38× hit  ·  9× miss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0" y="3026664"/>
            <a:ext cx="4754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ETA: ~ 4 min 20 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3282696"/>
            <a:ext cx="4754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Avg: 1 240 ms / dokument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55080" y="3657600"/>
            <a:ext cx="4663440" cy="164592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355080" y="3657600"/>
            <a:ext cx="1095908" cy="1645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126480" y="4160520"/>
            <a:ext cx="5120640" cy="1444752"/>
          </a:xfrm>
          <a:prstGeom prst="rect">
            <a:avLst/>
          </a:prstGeom>
          <a:solidFill>
            <a:srgbClr val="FFFFFF"/>
          </a:solidFill>
          <a:ln w="635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09360" y="425196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Log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9360" y="4526280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B223A"/>
                </a:solidFill>
                <a:latin typeface="Menlo"/>
              </a:rPr>
              <a:t>12:04:18  scan  ·  nalezeno 200 PDF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4727448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B223A"/>
                </a:solidFill>
                <a:latin typeface="Menlo"/>
              </a:rPr>
              <a:t>12:04:19  hash  ·  47 cache-hit, 153 nových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4928616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B223A"/>
                </a:solidFill>
                <a:latin typeface="Menlo"/>
              </a:rPr>
              <a:t>12:04:25  extract  ·  zprava_034.pdf  ·  cache-miss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129784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B223A"/>
                </a:solidFill>
                <a:latin typeface="Menlo"/>
              </a:rPr>
              <a:t>12:04:27  extract  ·  zprava_034.pdf  ·  ✓ 1 180 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533095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B223A"/>
                </a:solidFill>
                <a:latin typeface="Menlo"/>
              </a:rPr>
              <a:t>12:04:28  extract  ·  zprava_035.pdf  ·  cache-hit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77240" y="5696712"/>
            <a:ext cx="10607040" cy="292608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005840" y="5696712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21295C"/>
                </a:solidFill>
                <a:latin typeface="Calibri"/>
              </a:rPr>
              <a:t>Server dostupný · modely: 12 · kontext 32k tok.  ·  Zpracovávám…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98280" y="5696712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47 / 200  ·  cache 38×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C6B82"/>
                </a:solidFill>
                <a:latin typeface="Calibri"/>
              </a:rPr>
              <a:t>Schematický náhled — skutečné UI používá .regularMaterial glass cards a nativní macOS toolbar.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Use cases — pro koho je to užitečné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Schéma výstupu definuje uživatelský prompt, doménově univerzální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6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3703320" cy="6400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Zdravotnictví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928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E6EEF6"/>
                </a:solidFill>
                <a:latin typeface="Calibri"/>
              </a:rPr>
              <a:t>Ambulantní, propouštěcí a překladové zprávy</a:t>
            </a:r>
          </a:p>
        </p:txBody>
      </p:sp>
      <p:sp>
        <p:nvSpPr>
          <p:cNvPr id="12" name="Oval 11"/>
          <p:cNvSpPr/>
          <p:nvPr/>
        </p:nvSpPr>
        <p:spPr>
          <a:xfrm>
            <a:off x="768096" y="2350008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22860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Strukturace pacientských dat</a:t>
            </a:r>
          </a:p>
        </p:txBody>
      </p:sp>
      <p:sp>
        <p:nvSpPr>
          <p:cNvPr id="14" name="Oval 13"/>
          <p:cNvSpPr/>
          <p:nvPr/>
        </p:nvSpPr>
        <p:spPr>
          <a:xfrm>
            <a:off x="768096" y="2715768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26517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Diagnózy, medikace, lab. hodnoty</a:t>
            </a:r>
          </a:p>
        </p:txBody>
      </p:sp>
      <p:sp>
        <p:nvSpPr>
          <p:cNvPr id="16" name="Oval 15"/>
          <p:cNvSpPr/>
          <p:nvPr/>
        </p:nvSpPr>
        <p:spPr>
          <a:xfrm>
            <a:off x="768096" y="3081528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301752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Výpis hospitalizací do registru</a:t>
            </a:r>
          </a:p>
        </p:txBody>
      </p:sp>
      <p:sp>
        <p:nvSpPr>
          <p:cNvPr id="18" name="Oval 17"/>
          <p:cNvSpPr/>
          <p:nvPr/>
        </p:nvSpPr>
        <p:spPr>
          <a:xfrm>
            <a:off x="768096" y="3447288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3832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Dedup pacientů přes CONSOLIDATE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0832" y="150876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70832" y="1508760"/>
            <a:ext cx="3703320" cy="6400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99432" y="160020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Právo a soudnictví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9432" y="18928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E6EEF6"/>
                </a:solidFill>
                <a:latin typeface="Calibri"/>
              </a:rPr>
              <a:t>Smlouvy, posudky, soudní spisy</a:t>
            </a:r>
          </a:p>
        </p:txBody>
      </p:sp>
      <p:sp>
        <p:nvSpPr>
          <p:cNvPr id="24" name="Oval 23"/>
          <p:cNvSpPr/>
          <p:nvPr/>
        </p:nvSpPr>
        <p:spPr>
          <a:xfrm>
            <a:off x="4636008" y="2350008"/>
            <a:ext cx="109728" cy="1097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73752" y="22860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Extrakce stran, dat, částek</a:t>
            </a:r>
          </a:p>
        </p:txBody>
      </p:sp>
      <p:sp>
        <p:nvSpPr>
          <p:cNvPr id="26" name="Oval 25"/>
          <p:cNvSpPr/>
          <p:nvPr/>
        </p:nvSpPr>
        <p:spPr>
          <a:xfrm>
            <a:off x="4636008" y="2715768"/>
            <a:ext cx="109728" cy="1097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73752" y="26517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Souhrn klauzulí napříč smlouvami</a:t>
            </a:r>
          </a:p>
        </p:txBody>
      </p:sp>
      <p:sp>
        <p:nvSpPr>
          <p:cNvPr id="28" name="Oval 27"/>
          <p:cNvSpPr/>
          <p:nvPr/>
        </p:nvSpPr>
        <p:spPr>
          <a:xfrm>
            <a:off x="4636008" y="3081528"/>
            <a:ext cx="109728" cy="1097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873752" y="301752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Katalogizace podkladů ke znal. posudku</a:t>
            </a:r>
          </a:p>
        </p:txBody>
      </p:sp>
      <p:sp>
        <p:nvSpPr>
          <p:cNvPr id="30" name="Oval 29"/>
          <p:cNvSpPr/>
          <p:nvPr/>
        </p:nvSpPr>
        <p:spPr>
          <a:xfrm>
            <a:off x="4636008" y="3447288"/>
            <a:ext cx="109728" cy="1097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873752" y="33832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Hledání anomálií ve verzích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38744" y="150876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238744" y="1508760"/>
            <a:ext cx="3703320" cy="640080"/>
          </a:xfrm>
          <a:prstGeom prst="rect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467344" y="160020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Účetnictví a finance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67344" y="18928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E6EEF6"/>
                </a:solidFill>
                <a:latin typeface="Calibri"/>
              </a:rPr>
              <a:t>Faktury, dodací listy, výpisy</a:t>
            </a:r>
          </a:p>
        </p:txBody>
      </p:sp>
      <p:sp>
        <p:nvSpPr>
          <p:cNvPr id="36" name="Oval 35"/>
          <p:cNvSpPr/>
          <p:nvPr/>
        </p:nvSpPr>
        <p:spPr>
          <a:xfrm>
            <a:off x="8503920" y="2350008"/>
            <a:ext cx="109728" cy="109728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741664" y="22860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IČO, DIČ, čísla faktur, splatnosti</a:t>
            </a:r>
          </a:p>
        </p:txBody>
      </p:sp>
      <p:sp>
        <p:nvSpPr>
          <p:cNvPr id="38" name="Oval 37"/>
          <p:cNvSpPr/>
          <p:nvPr/>
        </p:nvSpPr>
        <p:spPr>
          <a:xfrm>
            <a:off x="8503920" y="2715768"/>
            <a:ext cx="109728" cy="109728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741664" y="26517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Položkové rozpisy do CSV</a:t>
            </a:r>
          </a:p>
        </p:txBody>
      </p:sp>
      <p:sp>
        <p:nvSpPr>
          <p:cNvPr id="40" name="Oval 39"/>
          <p:cNvSpPr/>
          <p:nvPr/>
        </p:nvSpPr>
        <p:spPr>
          <a:xfrm>
            <a:off x="8503920" y="3081528"/>
            <a:ext cx="109728" cy="109728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741664" y="301752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Reconciliace s účetním systémem</a:t>
            </a:r>
          </a:p>
        </p:txBody>
      </p:sp>
      <p:sp>
        <p:nvSpPr>
          <p:cNvPr id="42" name="Oval 41"/>
          <p:cNvSpPr/>
          <p:nvPr/>
        </p:nvSpPr>
        <p:spPr>
          <a:xfrm>
            <a:off x="8503920" y="3447288"/>
            <a:ext cx="109728" cy="109728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741664" y="33832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Daňová kontrola archivních PDF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97764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02920" y="3977640"/>
            <a:ext cx="3703320" cy="640080"/>
          </a:xfrm>
          <a:prstGeom prst="rect">
            <a:avLst/>
          </a:prstGeom>
          <a:solidFill>
            <a:srgbClr val="4A6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31520" y="406908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Veřejná správa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3616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E6EEF6"/>
                </a:solidFill>
                <a:latin typeface="Calibri"/>
              </a:rPr>
              <a:t>Zápisy, rozhodnutí, žádosti</a:t>
            </a:r>
          </a:p>
        </p:txBody>
      </p:sp>
      <p:sp>
        <p:nvSpPr>
          <p:cNvPr id="48" name="Oval 47"/>
          <p:cNvSpPr/>
          <p:nvPr/>
        </p:nvSpPr>
        <p:spPr>
          <a:xfrm>
            <a:off x="768096" y="4818888"/>
            <a:ext cx="109728" cy="109728"/>
          </a:xfrm>
          <a:prstGeom prst="ellipse">
            <a:avLst/>
          </a:prstGeom>
          <a:solidFill>
            <a:srgbClr val="4A6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05840" y="47548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Strukturace rozhodnutí úřadů</a:t>
            </a:r>
          </a:p>
        </p:txBody>
      </p:sp>
      <p:sp>
        <p:nvSpPr>
          <p:cNvPr id="50" name="Oval 49"/>
          <p:cNvSpPr/>
          <p:nvPr/>
        </p:nvSpPr>
        <p:spPr>
          <a:xfrm>
            <a:off x="768096" y="5184648"/>
            <a:ext cx="109728" cy="109728"/>
          </a:xfrm>
          <a:prstGeom prst="ellipse">
            <a:avLst/>
          </a:prstGeom>
          <a:solidFill>
            <a:srgbClr val="4A6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005840" y="512064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Archivace žádostí a rozhodnutí</a:t>
            </a:r>
          </a:p>
        </p:txBody>
      </p:sp>
      <p:sp>
        <p:nvSpPr>
          <p:cNvPr id="52" name="Oval 51"/>
          <p:cNvSpPr/>
          <p:nvPr/>
        </p:nvSpPr>
        <p:spPr>
          <a:xfrm>
            <a:off x="768096" y="5550408"/>
            <a:ext cx="109728" cy="109728"/>
          </a:xfrm>
          <a:prstGeom prst="ellipse">
            <a:avLst/>
          </a:prstGeom>
          <a:solidFill>
            <a:srgbClr val="4A6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05840" y="54864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Audit dokumentových workflow</a:t>
            </a:r>
          </a:p>
        </p:txBody>
      </p:sp>
      <p:sp>
        <p:nvSpPr>
          <p:cNvPr id="54" name="Oval 53"/>
          <p:cNvSpPr/>
          <p:nvPr/>
        </p:nvSpPr>
        <p:spPr>
          <a:xfrm>
            <a:off x="768096" y="5916168"/>
            <a:ext cx="109728" cy="109728"/>
          </a:xfrm>
          <a:prstGeom prst="ellipse">
            <a:avLst/>
          </a:prstGeom>
          <a:solidFill>
            <a:srgbClr val="4A6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Plnění GDPR (data lokálně)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70832" y="397764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4370832" y="3977640"/>
            <a:ext cx="3703320" cy="640080"/>
          </a:xfrm>
          <a:prstGeom prst="rect">
            <a:avLst/>
          </a:prstGeom>
          <a:solidFill>
            <a:srgbClr val="6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599432" y="406908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Technická dokumentace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99432" y="43616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E6EEF6"/>
                </a:solidFill>
                <a:latin typeface="Calibri"/>
              </a:rPr>
              <a:t>Manuály, normy, datasheety</a:t>
            </a:r>
          </a:p>
        </p:txBody>
      </p:sp>
      <p:sp>
        <p:nvSpPr>
          <p:cNvPr id="60" name="Oval 59"/>
          <p:cNvSpPr/>
          <p:nvPr/>
        </p:nvSpPr>
        <p:spPr>
          <a:xfrm>
            <a:off x="4636008" y="4818888"/>
            <a:ext cx="109728" cy="109728"/>
          </a:xfrm>
          <a:prstGeom prst="ellipse">
            <a:avLst/>
          </a:prstGeom>
          <a:solidFill>
            <a:srgbClr val="6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873752" y="47548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Extrakce parametrů a specifikací</a:t>
            </a:r>
          </a:p>
        </p:txBody>
      </p:sp>
      <p:sp>
        <p:nvSpPr>
          <p:cNvPr id="62" name="Oval 61"/>
          <p:cNvSpPr/>
          <p:nvPr/>
        </p:nvSpPr>
        <p:spPr>
          <a:xfrm>
            <a:off x="4636008" y="5184648"/>
            <a:ext cx="109728" cy="109728"/>
          </a:xfrm>
          <a:prstGeom prst="ellipse">
            <a:avLst/>
          </a:prstGeom>
          <a:solidFill>
            <a:srgbClr val="6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873752" y="512064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Souhrn norem napříč dokumenty</a:t>
            </a:r>
          </a:p>
        </p:txBody>
      </p:sp>
      <p:sp>
        <p:nvSpPr>
          <p:cNvPr id="64" name="Oval 63"/>
          <p:cNvSpPr/>
          <p:nvPr/>
        </p:nvSpPr>
        <p:spPr>
          <a:xfrm>
            <a:off x="4636008" y="5550408"/>
            <a:ext cx="109728" cy="109728"/>
          </a:xfrm>
          <a:prstGeom prst="ellipse">
            <a:avLst/>
          </a:prstGeom>
          <a:solidFill>
            <a:srgbClr val="6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873752" y="54864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Hledání referencí a citací</a:t>
            </a:r>
          </a:p>
        </p:txBody>
      </p:sp>
      <p:sp>
        <p:nvSpPr>
          <p:cNvPr id="66" name="Oval 65"/>
          <p:cNvSpPr/>
          <p:nvPr/>
        </p:nvSpPr>
        <p:spPr>
          <a:xfrm>
            <a:off x="4636008" y="5916168"/>
            <a:ext cx="109728" cy="109728"/>
          </a:xfrm>
          <a:prstGeom prst="ellipse">
            <a:avLst/>
          </a:prstGeom>
          <a:solidFill>
            <a:srgbClr val="6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873752" y="58521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Strukturace certifikátů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38744" y="397764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8238744" y="3977640"/>
            <a:ext cx="3703320" cy="640080"/>
          </a:xfrm>
          <a:prstGeom prst="rect">
            <a:avLst/>
          </a:prstGeom>
          <a:solidFill>
            <a:srgbClr val="1F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467344" y="406908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Personalistika a HR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67344" y="43616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E6EEF6"/>
                </a:solidFill>
                <a:latin typeface="Calibri"/>
              </a:rPr>
              <a:t>CV, pracovní smlouvy, hodnocení</a:t>
            </a:r>
          </a:p>
        </p:txBody>
      </p:sp>
      <p:sp>
        <p:nvSpPr>
          <p:cNvPr id="72" name="Oval 71"/>
          <p:cNvSpPr/>
          <p:nvPr/>
        </p:nvSpPr>
        <p:spPr>
          <a:xfrm>
            <a:off x="8503920" y="4818888"/>
            <a:ext cx="109728" cy="109728"/>
          </a:xfrm>
          <a:prstGeom prst="ellipse">
            <a:avLst/>
          </a:prstGeom>
          <a:solidFill>
            <a:srgbClr val="1F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741664" y="47548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Strukturace životopisů</a:t>
            </a:r>
          </a:p>
        </p:txBody>
      </p:sp>
      <p:sp>
        <p:nvSpPr>
          <p:cNvPr id="74" name="Oval 73"/>
          <p:cNvSpPr/>
          <p:nvPr/>
        </p:nvSpPr>
        <p:spPr>
          <a:xfrm>
            <a:off x="8503920" y="5184648"/>
            <a:ext cx="109728" cy="109728"/>
          </a:xfrm>
          <a:prstGeom prst="ellipse">
            <a:avLst/>
          </a:prstGeom>
          <a:solidFill>
            <a:srgbClr val="1F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8741664" y="512064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Sumarizace zkušeností</a:t>
            </a:r>
          </a:p>
        </p:txBody>
      </p:sp>
      <p:sp>
        <p:nvSpPr>
          <p:cNvPr id="76" name="Oval 75"/>
          <p:cNvSpPr/>
          <p:nvPr/>
        </p:nvSpPr>
        <p:spPr>
          <a:xfrm>
            <a:off x="8503920" y="5550408"/>
            <a:ext cx="109728" cy="109728"/>
          </a:xfrm>
          <a:prstGeom prst="ellipse">
            <a:avLst/>
          </a:prstGeom>
          <a:solidFill>
            <a:srgbClr val="1F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741664" y="54864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Extrakce dovedností a vzdělání</a:t>
            </a:r>
          </a:p>
        </p:txBody>
      </p:sp>
      <p:sp>
        <p:nvSpPr>
          <p:cNvPr id="78" name="Oval 77"/>
          <p:cNvSpPr/>
          <p:nvPr/>
        </p:nvSpPr>
        <p:spPr>
          <a:xfrm>
            <a:off x="8503920" y="5916168"/>
            <a:ext cx="109728" cy="109728"/>
          </a:xfrm>
          <a:prstGeom prst="ellipse">
            <a:avLst/>
          </a:prstGeom>
          <a:solidFill>
            <a:srgbClr val="1F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8741664" y="58521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Plně lokální zpracování os. údajů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Konkrétní scénáře použití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Co reálně vznikne za 5 minut s vlastním promptem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7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5650992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53712" y="1691640"/>
            <a:ext cx="1417320" cy="3657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53712" y="1691640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91640"/>
            <a:ext cx="377647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21295C"/>
                </a:solidFill>
                <a:latin typeface="Calibri"/>
              </a:rPr>
              <a:t>Strukturace 200 propouštěcích zpráv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94560"/>
            <a:ext cx="5193792" cy="7000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233172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065A82"/>
                </a:solidFill>
                <a:latin typeface="Calibri"/>
              </a:rPr>
              <a:t>Postup: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331720"/>
            <a:ext cx="464515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Vstup: 200 PDF v složce. Prompt: extrahuj jméno, RČ, diagnózy (ICD-10), medikaci, datum hospitalizace.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0896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F5B041"/>
                </a:solidFill>
                <a:latin typeface="Calibri"/>
              </a:rPr>
              <a:t>Výsledek: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08960"/>
            <a:ext cx="455371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Výstup: results.csv pro Excel + raw_responses.json pro audit. Druhý běh = 100 % cache hit.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508760"/>
            <a:ext cx="5650992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0341864" y="1691640"/>
            <a:ext cx="1417320" cy="3657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341864" y="1691640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CONSOLIDATE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691640"/>
            <a:ext cx="377647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21295C"/>
                </a:solidFill>
                <a:latin typeface="Calibri"/>
              </a:rPr>
              <a:t>Souhrn 50 smluv napříč dodavateli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9672" y="2194560"/>
            <a:ext cx="5193792" cy="7000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9672" y="233172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065A82"/>
                </a:solidFill>
                <a:latin typeface="Calibri"/>
              </a:rPr>
              <a:t>Postup: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68312" y="2331720"/>
            <a:ext cx="464515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Vstup: 50 různých smluv. Prompt: vytvoř souhrnnou tabulku stran, předmětu, ceny, doby plnění a sankčních klauzulí.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10896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F5B041"/>
                </a:solidFill>
                <a:latin typeface="Calibri"/>
              </a:rPr>
              <a:t>Výsledek: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3108960"/>
            <a:ext cx="455371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Výstup: jeden konsolidovaný JSON. Při přetečení kontextu se automaticky spustí map-reduce — neztratíte žádný dokument.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023360"/>
            <a:ext cx="5650992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53712" y="4206240"/>
            <a:ext cx="1417320" cy="3657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53712" y="4206240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206240"/>
            <a:ext cx="377647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21295C"/>
                </a:solidFill>
                <a:latin typeface="Calibri"/>
              </a:rPr>
              <a:t>Hledání pasáží v dlouhých posudcích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4709160"/>
            <a:ext cx="5193792" cy="7000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484632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065A82"/>
                </a:solidFill>
                <a:latin typeface="Calibri"/>
              </a:rPr>
              <a:t>Postup: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4846320"/>
            <a:ext cx="464515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Vstup: znalecké posudky o 200+ stranách. Prompt: najdi pasáže o vadách stavby a vyextrahuj odkazy na normy.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62356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F5B041"/>
                </a:solidFill>
                <a:latin typeface="Calibri"/>
              </a:rPr>
              <a:t>Výsledek: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5623560"/>
            <a:ext cx="455371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Embedding model najde top-N relevantních chunků, model odpoví jen nad nimi → rychlejší a přesnější než FAST.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1072" y="4023360"/>
            <a:ext cx="5650992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0341864" y="4206240"/>
            <a:ext cx="1417320" cy="3657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341864" y="4206240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FAST + markery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9672" y="4206240"/>
            <a:ext cx="377647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21295C"/>
                </a:solidFill>
                <a:latin typeface="Calibri"/>
              </a:rPr>
              <a:t>Faktury → CSV pro účetní systém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19672" y="4709160"/>
            <a:ext cx="5193792" cy="7000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19672" y="484632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065A82"/>
                </a:solidFill>
                <a:latin typeface="Calibri"/>
              </a:rPr>
              <a:t>Postup: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68312" y="4846320"/>
            <a:ext cx="464515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Vstup: 300 PDF faktur. Prompt s markery `=====CSV=====` vrátí přímo CSV řádky se všemi položkami.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9672" y="562356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F5B041"/>
                </a:solidFill>
                <a:latin typeface="Calibri"/>
              </a:rPr>
              <a:t>Výsledek: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59752" y="5623560"/>
            <a:ext cx="455371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Výstup: invoices_raw.csv s UTF-8 BOM, otevře se v Excelu bez ručních úprav. Import do účetního SW jedním kliknutím.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Zdravotnictví — konkrétní scénáře z praxe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Lokální zpracování = pacientská data nikdy neopustí počítač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8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55680" cy="2788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371600"/>
            <a:ext cx="164592" cy="2788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554480"/>
            <a:ext cx="2011680" cy="329184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554480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VLAJKOVÝ SCÉNÁŘ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96596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21295C"/>
                </a:solidFill>
                <a:latin typeface="Calibri"/>
              </a:rPr>
              <a:t>Příprava datasetu pro vědeckou práci s anonymizací / pseudonymizací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514600"/>
            <a:ext cx="5257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alibri"/>
              </a:rPr>
              <a:t>Co se stane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07208"/>
            <a:ext cx="5257800" cy="1216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Vstup: ambulantní a propouštěcí zprávy stovek pacientů.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Prompt: extrahuj diagnózy (ICD-10), lab. hodnoty, datumy, medikaci — a místo jména/RČ vrať pseudo-ID tvaru P-{hash(rodné_číslo)[:8]}.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Druhá fáze: CONSOLIDATE napříč všemi pacienty pro kontrolu duplikátů přes pseudo-ID.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514600"/>
            <a:ext cx="5257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5B041"/>
                </a:solidFill>
                <a:latin typeface="Calibri"/>
              </a:rPr>
              <a:t>Výstup pro výzkum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807208"/>
            <a:ext cx="5257800" cy="1216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dataset.csv s pseudo-ID, ICD-10, hodnotami a datumy — přímo otevřitelný v R / Pythonu.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raw_responses.json pro audit etické komise — všechny odpovědi modelu k dohledání.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Originální PDF + mapování pseudo-ID ↔ pacient zůstávají POUZE na lokálním Macu (nikdy v cloudu).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297680"/>
            <a:ext cx="36271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4297680"/>
            <a:ext cx="362712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85800" y="4526280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57200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480560"/>
            <a:ext cx="2712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21295C"/>
                </a:solidFill>
                <a:latin typeface="Calibri"/>
              </a:rPr>
              <a:t>Vytěžení laboratorních výsledků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166360"/>
            <a:ext cx="31699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b="0" i="0">
                <a:solidFill>
                  <a:srgbClr val="5C6B82"/>
                </a:solidFill>
                <a:latin typeface="Calibri"/>
              </a:rPr>
              <a:t>Stovky lab nálezů z různých laboratoří v jednom CSV: parametr, hodnota, jednotka, referenční mez, datum odběru. Sjednocené zápisy umožní longitudinální analýzu pacienta v čase.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67200" y="4297680"/>
            <a:ext cx="36271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267200" y="4297680"/>
            <a:ext cx="362712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450080" y="4526280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50080" y="457200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44440" y="4480560"/>
            <a:ext cx="2712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21295C"/>
                </a:solidFill>
                <a:latin typeface="Calibri"/>
              </a:rPr>
              <a:t>Extrakce medikace a interakcí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5800" y="5166360"/>
            <a:ext cx="31699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b="0" i="0">
                <a:solidFill>
                  <a:srgbClr val="5C6B82"/>
                </a:solidFill>
                <a:latin typeface="Calibri"/>
              </a:rPr>
              <a:t>Z propouštěcích zpráv vytěžit aktuální medikaci včetně dávkování. Druhý průchod (CONSOLIDATE) napříč pacienty najde kohorty s rizikovou kombinací léků pro klinický audit.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31480" y="4297680"/>
            <a:ext cx="36271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031480" y="4297680"/>
            <a:ext cx="362712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214360" y="4526280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14360" y="457200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08720" y="4480560"/>
            <a:ext cx="2712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21295C"/>
                </a:solidFill>
                <a:latin typeface="Calibri"/>
              </a:rPr>
              <a:t>Předtřídění pro přijímací ambulanci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0080" y="5166360"/>
            <a:ext cx="31699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b="0" i="0">
                <a:solidFill>
                  <a:srgbClr val="5C6B82"/>
                </a:solidFill>
                <a:latin typeface="Calibri"/>
              </a:rPr>
              <a:t>Externí dokumentace nového pacienta projde lokálním modelem dřív, než se otevře v EHR — lékař dostane strukturovaný souhrn diagnóz, alergií a chronické medikace na jeden klik.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Proč SpiceHarvester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Co dostanete navíc oproti cloudovým řešením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9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106E55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Soukromí a compliance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926080"/>
            <a:ext cx="457200" cy="20000"/>
          </a:xfrm>
          <a:prstGeom prst="rect">
            <a:avLst/>
          </a:prstGeom>
          <a:solidFill>
            <a:srgbClr val="106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Data nikdy neopouští počítač. Vhodné pro zdravotnictví, advokátní kanceláře, veřejnou správu, GDPR-citlivé workflow.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50876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99432" y="164592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9C4A1B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42316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Nulové provozní náklady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99432" y="2926080"/>
            <a:ext cx="457200" cy="20000"/>
          </a:xfrm>
          <a:prstGeom prst="rect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99432" y="306324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Žádné tokeny, žádný měsíční poplatek za API. Pouze hardware a elektřina. Otevřené modely zdarma.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38744" y="150876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67344" y="164592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065A82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7344" y="242316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Plně auditovatelné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67344" y="2926080"/>
            <a:ext cx="457200" cy="20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67344" y="306324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Raw odpovědi modelu se vždy ukládají. Inference cache je transparentní JSON. Logy v lokálním čase, escapované hodnoty.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97764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411480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1C7293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8920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Rychlá iterace promptu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394960"/>
            <a:ext cx="457200" cy="200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553212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Per-inference cache zaručí, že po změně promptu se znovu neprojíždí OCR ani PDF parsing. Vývojový cyklus v sekundách.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70832" y="397764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99432" y="411480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6E3A6B"/>
                </a:solidFill>
                <a:latin typeface="Calibr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9432" y="48920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Žádný vendor lock-in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99432" y="5394960"/>
            <a:ext cx="457200" cy="20000"/>
          </a:xfrm>
          <a:prstGeom prst="rect">
            <a:avLst/>
          </a:prstGeom>
          <a:solidFill>
            <a:srgbClr val="6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99432" y="553212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OpenAI-kompatibilní API: lze přepnout mezi LM Studio, MLX, v budoucnu vlastní backend. Promptu zůstávají stejné.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38744" y="397764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467344" y="411480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1F4F7A"/>
                </a:solidFill>
                <a:latin typeface="Calibri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67344" y="48920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Otevřená a univerzální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67344" y="5394960"/>
            <a:ext cx="457200" cy="20000"/>
          </a:xfrm>
          <a:prstGeom prst="rect">
            <a:avLst/>
          </a:prstGeom>
          <a:solidFill>
            <a:srgbClr val="1F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467344" y="553212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Schéma výstupu řídí prompt — žádné natvrdo zadrátované pole. Stejná aplikace funguje na zdravotnictví i na fakturách.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Vše stojí a padá s promptem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Jedna věta nestačí — strukturovaný prompt je hlavní páka kvality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10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566928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5669280" cy="411480"/>
          </a:xfrm>
          <a:prstGeom prst="rect">
            <a:avLst/>
          </a:prstGeom>
          <a:solidFill>
            <a:srgbClr val="C4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563624"/>
            <a:ext cx="5212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✗  Nestačí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1B223A"/>
                </a:solidFill>
                <a:latin typeface="Menlo"/>
              </a:rPr>
              <a:t>„Vytáhni z PDF důležité informace."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60320"/>
            <a:ext cx="52120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Model nemá schéma → každý PDF vrátí jiný tvar JSON.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Bez ICD-10 / formátů dat → nečitelná data pro Excel.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Bez příkladu → halucinace, neplatný JSON, repair fail.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508760"/>
            <a:ext cx="566928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09360" y="1508760"/>
            <a:ext cx="5669280" cy="4114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1563624"/>
            <a:ext cx="5212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✓  Strukturovaný 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0574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065A82"/>
                </a:solidFill>
                <a:latin typeface="Calibri"/>
              </a:rPr>
              <a:t>Role + úkol + schéma + pravidla + příklad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560320"/>
            <a:ext cx="52120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Pevně daný JSON tvar → konzistentní export do CSV.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Jasné formáty (ISO datum, ICD-10) → dataset připravený k analýze.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Jeden ukázkový vzor → drasticky méně chyb a oprav.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840480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21295C"/>
                </a:solidFill>
                <a:latin typeface="Calibri"/>
              </a:rPr>
              <a:t>Co musí prompt obsahovat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251960"/>
            <a:ext cx="1844040" cy="1325880"/>
          </a:xfrm>
          <a:prstGeom prst="rect">
            <a:avLst/>
          </a:prstGeom>
          <a:solidFill>
            <a:srgbClr val="ECF1F7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94360" y="43434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437083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663440"/>
            <a:ext cx="1661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ROLE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937760"/>
            <a:ext cx="1569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 i="0">
                <a:solidFill>
                  <a:srgbClr val="5C6B82"/>
                </a:solidFill>
                <a:latin typeface="Calibri"/>
              </a:rPr>
              <a:t>Kým je model? („Jsi extraktor zdravotnických dat…")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6688" y="4251960"/>
            <a:ext cx="1844040" cy="1325880"/>
          </a:xfrm>
          <a:prstGeom prst="rect">
            <a:avLst/>
          </a:prstGeom>
          <a:solidFill>
            <a:srgbClr val="ECF1F7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2548128" y="43434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548128" y="437083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48128" y="4663440"/>
            <a:ext cx="1661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ÚKOL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93848" y="4937760"/>
            <a:ext cx="1569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 i="0">
                <a:solidFill>
                  <a:srgbClr val="5C6B82"/>
                </a:solidFill>
                <a:latin typeface="Calibri"/>
              </a:rPr>
              <a:t>Co přesně dělá s každým dokumentem.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10456" y="4251960"/>
            <a:ext cx="1844040" cy="1325880"/>
          </a:xfrm>
          <a:prstGeom prst="rect">
            <a:avLst/>
          </a:prstGeom>
          <a:solidFill>
            <a:srgbClr val="ECF1F7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4501896" y="43434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01896" y="437083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1896" y="4663440"/>
            <a:ext cx="1661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SCHÉMA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47616" y="4937760"/>
            <a:ext cx="1569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 i="0">
                <a:solidFill>
                  <a:srgbClr val="5C6B82"/>
                </a:solidFill>
                <a:latin typeface="Calibri"/>
              </a:rPr>
              <a:t>Přesný JSON tvar včetně typů a povinných polí.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64224" y="4251960"/>
            <a:ext cx="1844040" cy="1325880"/>
          </a:xfrm>
          <a:prstGeom prst="rect">
            <a:avLst/>
          </a:prstGeom>
          <a:solidFill>
            <a:srgbClr val="ECF1F7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6455664" y="43434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55664" y="437083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4663440"/>
            <a:ext cx="1661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PRAVIDLA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01384" y="4937760"/>
            <a:ext cx="1569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 i="0">
                <a:solidFill>
                  <a:srgbClr val="5C6B82"/>
                </a:solidFill>
                <a:latin typeface="Calibri"/>
              </a:rPr>
              <a:t>Co dělat když pole chybí, formáty datumu, jazyk výstupu.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17992" y="4251960"/>
            <a:ext cx="1844040" cy="1325880"/>
          </a:xfrm>
          <a:prstGeom prst="rect">
            <a:avLst/>
          </a:prstGeom>
          <a:solidFill>
            <a:srgbClr val="ECF1F7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409432" y="43434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409432" y="437083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09432" y="4663440"/>
            <a:ext cx="1661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PŘÍKLAD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5152" y="4937760"/>
            <a:ext cx="1569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 i="0">
                <a:solidFill>
                  <a:srgbClr val="5C6B82"/>
                </a:solidFill>
                <a:latin typeface="Calibri"/>
              </a:rPr>
              <a:t>Jeden ukázkový vstup→výstup pro disambiguaci.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271760" y="4251960"/>
            <a:ext cx="1844040" cy="1325880"/>
          </a:xfrm>
          <a:prstGeom prst="rect">
            <a:avLst/>
          </a:prstGeom>
          <a:solidFill>
            <a:srgbClr val="ECF1F7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10363200" y="43434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363200" y="437083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3200" y="4663440"/>
            <a:ext cx="1661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CONSTRAINTS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8920" y="4937760"/>
            <a:ext cx="1569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 i="0">
                <a:solidFill>
                  <a:srgbClr val="5C6B82"/>
                </a:solidFill>
                <a:latin typeface="Calibri"/>
              </a:rPr>
              <a:t>„Pouze JSON, bez markdownu, bez vysvětlení."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solidFill>
            <a:srgbClr val="FFF6E3"/>
          </a:solidFill>
          <a:ln w="9525">
            <a:solidFill>
              <a:srgbClr val="F5B0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21295C"/>
                </a:solidFill>
                <a:latin typeface="Calibri"/>
              </a:rPr>
              <a:t>Tip:  prompty se ukládají jako .md soubory — verzujete je v Gitu, sdílíte v týmu, a s novým modelem často stačí stejný prompt pro lepší výsledky.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Tři režimy extrakce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Volíte podle délky dokumentů a typu úlohy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11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703320" cy="457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703320" cy="10058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719072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94560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1 request / dokument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43200"/>
            <a:ext cx="31546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Plný cleanedText jako kontext.</a:t>
            </a:r>
          </a:p>
        </p:txBody>
      </p:sp>
      <p:sp>
        <p:nvSpPr>
          <p:cNvPr id="13" name="Oval 12"/>
          <p:cNvSpPr/>
          <p:nvPr/>
        </p:nvSpPr>
        <p:spPr>
          <a:xfrm>
            <a:off x="845820" y="3954780"/>
            <a:ext cx="137160" cy="1371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388620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Krátké až střední PDF</a:t>
            </a:r>
          </a:p>
        </p:txBody>
      </p:sp>
      <p:sp>
        <p:nvSpPr>
          <p:cNvPr id="15" name="Oval 14"/>
          <p:cNvSpPr/>
          <p:nvPr/>
        </p:nvSpPr>
        <p:spPr>
          <a:xfrm>
            <a:off x="845820" y="4366260"/>
            <a:ext cx="137160" cy="1371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429768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Bez embedding modelu</a:t>
            </a:r>
          </a:p>
        </p:txBody>
      </p:sp>
      <p:sp>
        <p:nvSpPr>
          <p:cNvPr id="17" name="Oval 16"/>
          <p:cNvSpPr/>
          <p:nvPr/>
        </p:nvSpPr>
        <p:spPr>
          <a:xfrm>
            <a:off x="845820" y="4777740"/>
            <a:ext cx="137160" cy="1371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470916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Nejnižší latence</a:t>
            </a:r>
          </a:p>
        </p:txBody>
      </p:sp>
      <p:sp>
        <p:nvSpPr>
          <p:cNvPr id="19" name="Oval 18"/>
          <p:cNvSpPr/>
          <p:nvPr/>
        </p:nvSpPr>
        <p:spPr>
          <a:xfrm>
            <a:off x="845820" y="5189220"/>
            <a:ext cx="137160" cy="1371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43000" y="512064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Default volba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1554480"/>
            <a:ext cx="3703320" cy="457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89120" y="1554480"/>
            <a:ext cx="3703320" cy="10058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63440" y="1719072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2194560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RAG s embeddingy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2743200"/>
            <a:ext cx="31546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Chunking + paralelní embeddings + top-N (volitelný reranker přes /v1/rerank).</a:t>
            </a:r>
          </a:p>
        </p:txBody>
      </p:sp>
      <p:sp>
        <p:nvSpPr>
          <p:cNvPr id="26" name="Oval 25"/>
          <p:cNvSpPr/>
          <p:nvPr/>
        </p:nvSpPr>
        <p:spPr>
          <a:xfrm>
            <a:off x="4732020" y="3954780"/>
            <a:ext cx="137160" cy="1371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200" y="388620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Dlouhé dokumenty</a:t>
            </a:r>
          </a:p>
        </p:txBody>
      </p:sp>
      <p:sp>
        <p:nvSpPr>
          <p:cNvPr id="28" name="Oval 27"/>
          <p:cNvSpPr/>
          <p:nvPr/>
        </p:nvSpPr>
        <p:spPr>
          <a:xfrm>
            <a:off x="4732020" y="4366260"/>
            <a:ext cx="137160" cy="1371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0" y="429768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Stačí relevantní pasáže</a:t>
            </a:r>
          </a:p>
        </p:txBody>
      </p:sp>
      <p:sp>
        <p:nvSpPr>
          <p:cNvPr id="30" name="Oval 29"/>
          <p:cNvSpPr/>
          <p:nvPr/>
        </p:nvSpPr>
        <p:spPr>
          <a:xfrm>
            <a:off x="4732020" y="4777740"/>
            <a:ext cx="137160" cy="1371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0" y="470916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Vyžaduje embed model</a:t>
            </a:r>
          </a:p>
        </p:txBody>
      </p:sp>
      <p:sp>
        <p:nvSpPr>
          <p:cNvPr id="32" name="Oval 31"/>
          <p:cNvSpPr/>
          <p:nvPr/>
        </p:nvSpPr>
        <p:spPr>
          <a:xfrm>
            <a:off x="4732020" y="5189220"/>
            <a:ext cx="137160" cy="1371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029200" y="512064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Fallback na N chunků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5320" y="1554480"/>
            <a:ext cx="3703320" cy="457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275320" y="1554480"/>
            <a:ext cx="3703320" cy="1005840"/>
          </a:xfrm>
          <a:prstGeom prst="rect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549640" y="1719072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CONSOLIDATE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2194560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1 request / celý batch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9640" y="2743200"/>
            <a:ext cx="31546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Pre-flight token budget check. Map-reduce fallback při přetečení.</a:t>
            </a:r>
          </a:p>
        </p:txBody>
      </p:sp>
      <p:sp>
        <p:nvSpPr>
          <p:cNvPr id="39" name="Oval 38"/>
          <p:cNvSpPr/>
          <p:nvPr/>
        </p:nvSpPr>
        <p:spPr>
          <a:xfrm>
            <a:off x="8618220" y="3954780"/>
            <a:ext cx="137160" cy="137160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915400" y="388620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Dedup napříč dokumenty</a:t>
            </a:r>
          </a:p>
        </p:txBody>
      </p:sp>
      <p:sp>
        <p:nvSpPr>
          <p:cNvPr id="41" name="Oval 40"/>
          <p:cNvSpPr/>
          <p:nvPr/>
        </p:nvSpPr>
        <p:spPr>
          <a:xfrm>
            <a:off x="8618220" y="4366260"/>
            <a:ext cx="137160" cy="137160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915400" y="429768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Souhrny, agregace</a:t>
            </a:r>
          </a:p>
        </p:txBody>
      </p:sp>
      <p:sp>
        <p:nvSpPr>
          <p:cNvPr id="43" name="Oval 42"/>
          <p:cNvSpPr/>
          <p:nvPr/>
        </p:nvSpPr>
        <p:spPr>
          <a:xfrm>
            <a:off x="8618220" y="4777740"/>
            <a:ext cx="137160" cy="137160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915400" y="470916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Auto-refresh kontextu</a:t>
            </a:r>
          </a:p>
        </p:txBody>
      </p:sp>
      <p:sp>
        <p:nvSpPr>
          <p:cNvPr id="45" name="Oval 44"/>
          <p:cNvSpPr/>
          <p:nvPr/>
        </p:nvSpPr>
        <p:spPr>
          <a:xfrm>
            <a:off x="8618220" y="5189220"/>
            <a:ext cx="137160" cy="137160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915400" y="512064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Každá fáze má cache slot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5B041"/>
                </a:solidFill>
                <a:latin typeface="Calibri"/>
              </a:rPr>
              <a:t>TECHNOLOGIE A SHRNUTÍ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Postaveno na nativních macOS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1627632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6276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Swift 5.10+</a:t>
            </a:r>
          </a:p>
        </p:txBody>
      </p:sp>
      <p:sp>
        <p:nvSpPr>
          <p:cNvPr id="7" name="Rectangle 6"/>
          <p:cNvSpPr/>
          <p:nvPr/>
        </p:nvSpPr>
        <p:spPr>
          <a:xfrm>
            <a:off x="2587752" y="2286000"/>
            <a:ext cx="1152144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587752" y="2286000"/>
            <a:ext cx="11521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SwiftUI</a:t>
            </a:r>
          </a:p>
        </p:txBody>
      </p:sp>
      <p:sp>
        <p:nvSpPr>
          <p:cNvPr id="9" name="Rectangle 8"/>
          <p:cNvSpPr/>
          <p:nvPr/>
        </p:nvSpPr>
        <p:spPr>
          <a:xfrm>
            <a:off x="3877056" y="2286000"/>
            <a:ext cx="2459736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77056" y="2286000"/>
            <a:ext cx="24597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MVVM + @Observable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73952" y="2286000"/>
            <a:ext cx="1865376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2286000"/>
            <a:ext cx="186537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async / await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76488" y="2286000"/>
            <a:ext cx="1033271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76488" y="2286000"/>
            <a:ext cx="103327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PDFKit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46919" y="2286000"/>
            <a:ext cx="150876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46919" y="2286000"/>
            <a:ext cx="1508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Vision OCR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907792"/>
            <a:ext cx="1865376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2907792"/>
            <a:ext cx="186537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OpenAI-compat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25496" y="2907792"/>
            <a:ext cx="2340864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825496" y="2907792"/>
            <a:ext cx="234086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macOS 14+ Sandbox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611880"/>
            <a:ext cx="10515600" cy="219456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2960" y="3611880"/>
            <a:ext cx="109728" cy="219456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43000" y="38862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5B041"/>
                </a:solidFill>
                <a:latin typeface="Calibri"/>
              </a:rPr>
              <a:t>Souhrn jednou větou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325112"/>
            <a:ext cx="100584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SpiceHarvester proměňuje stovky PDF dokumentů ve strukturovaná data
bez cloudu — s vlastním promptem, lokálním modelem a auditem
od raw odpovědi až po finální CSV.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1264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8C8E0"/>
                </a:solidFill>
                <a:latin typeface="Calibri"/>
              </a:rPr>
              <a:t>github.com/davidmasinzprahy · davidmasinzprahy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12648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B8C8E0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Schéma architektury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Dvoufázová pipeline · tok: Uživatel → UI → ViewModel → Pipeline → Services + Storage → Export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13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325880" cy="7772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74519" y="1417320"/>
            <a:ext cx="10058400" cy="777240"/>
          </a:xfrm>
          <a:prstGeom prst="rect">
            <a:avLst/>
          </a:prstGeom>
          <a:solidFill>
            <a:srgbClr val="E7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2304288"/>
            <a:ext cx="1325880" cy="7772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30428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ViewModel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74519" y="2304288"/>
            <a:ext cx="10058400" cy="777240"/>
          </a:xfrm>
          <a:prstGeom prst="rect">
            <a:avLst/>
          </a:prstGeom>
          <a:solidFill>
            <a:srgbClr val="DC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3191256"/>
            <a:ext cx="1325880" cy="7772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191256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Pipeline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19" y="3191256"/>
            <a:ext cx="10058400" cy="777240"/>
          </a:xfrm>
          <a:prstGeom prst="rect">
            <a:avLst/>
          </a:prstGeom>
          <a:solidFill>
            <a:srgbClr val="D0E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02920" y="4078224"/>
            <a:ext cx="1325880" cy="7772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4078224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Services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74519" y="4078224"/>
            <a:ext cx="10058400" cy="777240"/>
          </a:xfrm>
          <a:prstGeom prst="rect">
            <a:avLst/>
          </a:prstGeom>
          <a:solidFill>
            <a:srgbClr val="C4D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2920" y="4965192"/>
            <a:ext cx="1325880" cy="7772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4965192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Storage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74519" y="4965192"/>
            <a:ext cx="10058400" cy="777240"/>
          </a:xfrm>
          <a:prstGeom prst="rect">
            <a:avLst/>
          </a:prstGeom>
          <a:solidFill>
            <a:srgbClr val="B7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011679" y="1508760"/>
            <a:ext cx="219456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103119" y="15544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SpiceHarvesterApp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9" y="1819656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WindowGroup + Settings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399" y="1508760"/>
            <a:ext cx="182880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434839" y="1554480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ContentView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39" y="1819656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HSplitView · Toolbar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59" y="1508760"/>
            <a:ext cx="169164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799" y="1554480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SettingsView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799" y="1819656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Cmd+, Předvolby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59" y="1508760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599" y="155448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HelpSheet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1819656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Cmd+? Nápověda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11679" y="2395728"/>
            <a:ext cx="9784080" cy="594360"/>
          </a:xfrm>
          <a:prstGeom prst="rect">
            <a:avLst/>
          </a:prstGeom>
          <a:solidFill>
            <a:srgbClr val="065A82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103119" y="2441448"/>
            <a:ext cx="9601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SHAppViewModel  ·  @Observable @MainActor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19" y="2706624"/>
            <a:ext cx="9601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CCE0EE"/>
                </a:solidFill>
                <a:latin typeface="Calibri"/>
              </a:rPr>
              <a:t>Orchestrace běhu · executeRun · cancelRun · parameter conflicts · auto-context refresh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11679" y="3282696"/>
            <a:ext cx="310896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103119" y="3328416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SHPreprocessingPipeline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03119" y="3593592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FÁZE 1 · scan / hash / PDF / OCR / clean / cache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03519" y="3282696"/>
            <a:ext cx="33832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394959" y="3328416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SHExtractionPipeline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94959" y="3593592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FÁZE 2 · FAST / SEARCH / CONSOLIDATE + map-reduce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69679" y="3282696"/>
            <a:ext cx="274320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961119" y="3328416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SHQueueManager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19" y="3593592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FIFO async semaphore · cancel-safe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11679" y="4169664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103119" y="4215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SHFileScan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03119" y="44805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scan · SHA-256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599" y="4169664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749039" y="4215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SHPDFParser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49039" y="44805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PDFKit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03519" y="4169664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94959" y="4215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SHVisionOCR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94959" y="44805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OCR fallback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949439" y="4169664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040879" y="4215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SHTextCleaning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79" y="44805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anchored regex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59" y="4169664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686799" y="4215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SHOpenAIClient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799" y="44805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OpenAI-compat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241279" y="4169664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332719" y="4215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SHPromptAnalyzer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2719" y="44805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mode hint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011679" y="5056632"/>
            <a:ext cx="1883664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103119" y="5102352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SHCacheManager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03119" y="5367528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per-dokument JSON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986783" y="5056632"/>
            <a:ext cx="1883664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078223" y="5102352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SHInferenceCache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078223" y="5367528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per-inference JSON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961887" y="5056632"/>
            <a:ext cx="1883664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053327" y="5102352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SHProcessingLogger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53327" y="5367528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tail · ISO-8601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36991" y="5056632"/>
            <a:ext cx="1883664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8028431" y="5102352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SHExportService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28431" y="5367528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JSON / CSV / TXT / raw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912095" y="5056632"/>
            <a:ext cx="1883664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003535" y="5102352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SHConfigStore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003535" y="5367528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UserDefaults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Datový tok: dvoufázová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Cache na obou úrovních = instant hit při ladění promptu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14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828800" cy="173736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1945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F5B041"/>
                </a:solidFill>
                <a:latin typeface="Calibri"/>
              </a:rPr>
              <a:t>FÁZE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146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Předzpracování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7180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B8C8E0"/>
                </a:solidFill>
                <a:latin typeface="Calibri"/>
              </a:rPr>
              <a:t>→ JSON cache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14600" y="2057400"/>
            <a:ext cx="1508760" cy="1280160"/>
          </a:xfrm>
          <a:prstGeom prst="rect">
            <a:avLst/>
          </a:prstGeom>
          <a:solidFill>
            <a:srgbClr val="E7EEF6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06040" y="2331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Scan PDF
ve složce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027932" y="2697480"/>
            <a:ext cx="82296" cy="0"/>
          </a:xfrm>
          <a:prstGeom prst="bentConnector3">
            <a:avLst/>
          </a:prstGeom>
          <a:ln w="22225">
            <a:solidFill>
              <a:srgbClr val="065A8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114800" y="2057400"/>
            <a:ext cx="1508760" cy="1280160"/>
          </a:xfrm>
          <a:prstGeom prst="rect">
            <a:avLst/>
          </a:prstGeom>
          <a:solidFill>
            <a:srgbClr val="E7EEF6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06240" y="2331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SHA-256
hash souboru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28132" y="2697480"/>
            <a:ext cx="82296" cy="0"/>
          </a:xfrm>
          <a:prstGeom prst="bentConnector3">
            <a:avLst/>
          </a:prstGeom>
          <a:ln w="22225">
            <a:solidFill>
              <a:srgbClr val="065A8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715000" y="2057400"/>
            <a:ext cx="1508760" cy="1280160"/>
          </a:xfrm>
          <a:prstGeom prst="rect">
            <a:avLst/>
          </a:prstGeom>
          <a:solidFill>
            <a:srgbClr val="E7EEF6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806440" y="2331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PDFKit
extrakce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228332" y="2697480"/>
            <a:ext cx="82296" cy="0"/>
          </a:xfrm>
          <a:prstGeom prst="bentConnector3">
            <a:avLst/>
          </a:prstGeom>
          <a:ln w="22225">
            <a:solidFill>
              <a:srgbClr val="065A8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0" y="2057400"/>
            <a:ext cx="1508760" cy="1280160"/>
          </a:xfrm>
          <a:prstGeom prst="rect">
            <a:avLst/>
          </a:prstGeom>
          <a:solidFill>
            <a:srgbClr val="E7EEF6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06640" y="2331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Vision OCR
fallback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828532" y="2697480"/>
            <a:ext cx="82296" cy="0"/>
          </a:xfrm>
          <a:prstGeom prst="bentConnector3">
            <a:avLst/>
          </a:prstGeom>
          <a:ln w="22225">
            <a:solidFill>
              <a:srgbClr val="065A8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915400" y="2057400"/>
            <a:ext cx="1508760" cy="1280160"/>
          </a:xfrm>
          <a:prstGeom prst="rect">
            <a:avLst/>
          </a:prstGeom>
          <a:solidFill>
            <a:srgbClr val="E7EEF6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06840" y="2331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Text
cleaner v2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428732" y="2697480"/>
            <a:ext cx="82296" cy="0"/>
          </a:xfrm>
          <a:prstGeom prst="bentConnector3">
            <a:avLst/>
          </a:prstGeom>
          <a:ln w="22225">
            <a:solidFill>
              <a:srgbClr val="065A8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0515600" y="2057400"/>
            <a:ext cx="1508760" cy="1280160"/>
          </a:xfrm>
          <a:prstGeom prst="rect">
            <a:avLst/>
          </a:prstGeom>
          <a:solidFill>
            <a:srgbClr val="E7EEF6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607040" y="2331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Per-doc
cache (JSON)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114800"/>
            <a:ext cx="1828800" cy="17373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4805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F5B041"/>
                </a:solidFill>
                <a:latin typeface="Calibri"/>
              </a:rPr>
              <a:t>FÁZE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8006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Extrakce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25780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CCE6EE"/>
                </a:solidFill>
                <a:latin typeface="Calibri"/>
              </a:rPr>
              <a:t>→ JSON / CSV / TXT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14600" y="4343400"/>
            <a:ext cx="1508760" cy="1280160"/>
          </a:xfrm>
          <a:prstGeom prst="rect">
            <a:avLst/>
          </a:prstGeom>
          <a:solidFill>
            <a:srgbClr val="DCEEF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606040" y="4617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Inference
cache lookup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027932" y="4983480"/>
            <a:ext cx="82296" cy="0"/>
          </a:xfrm>
          <a:prstGeom prst="bentConnector3">
            <a:avLst/>
          </a:prstGeom>
          <a:ln w="22225">
            <a:solidFill>
              <a:srgbClr val="1C7293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114800" y="4343400"/>
            <a:ext cx="1508760" cy="1280160"/>
          </a:xfrm>
          <a:prstGeom prst="rect">
            <a:avLst/>
          </a:prstGeom>
          <a:solidFill>
            <a:srgbClr val="DCEEF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206240" y="4617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Pre-flight
token check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28132" y="4983480"/>
            <a:ext cx="82296" cy="0"/>
          </a:xfrm>
          <a:prstGeom prst="bentConnector3">
            <a:avLst/>
          </a:prstGeom>
          <a:ln w="22225">
            <a:solidFill>
              <a:srgbClr val="1C7293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5715000" y="4343400"/>
            <a:ext cx="1508760" cy="1280160"/>
          </a:xfrm>
          <a:prstGeom prst="rect">
            <a:avLst/>
          </a:prstGeom>
          <a:solidFill>
            <a:srgbClr val="DCEEF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806440" y="4617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Lokální LLM
(LM Studio)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228332" y="4983480"/>
            <a:ext cx="82296" cy="0"/>
          </a:xfrm>
          <a:prstGeom prst="bentConnector3">
            <a:avLst/>
          </a:prstGeom>
          <a:ln w="22225">
            <a:solidFill>
              <a:srgbClr val="1C7293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7315200" y="4343400"/>
            <a:ext cx="1508760" cy="1280160"/>
          </a:xfrm>
          <a:prstGeom prst="rect">
            <a:avLst/>
          </a:prstGeom>
          <a:solidFill>
            <a:srgbClr val="DCEEF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406640" y="4617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Best-effort
decode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828532" y="4983480"/>
            <a:ext cx="82296" cy="0"/>
          </a:xfrm>
          <a:prstGeom prst="bentConnector3">
            <a:avLst/>
          </a:prstGeom>
          <a:ln w="22225">
            <a:solidFill>
              <a:srgbClr val="1C7293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8915400" y="4343400"/>
            <a:ext cx="1508760" cy="1280160"/>
          </a:xfrm>
          <a:prstGeom prst="rect">
            <a:avLst/>
          </a:prstGeom>
          <a:solidFill>
            <a:srgbClr val="DCEEF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006840" y="4617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Save raw +
canonical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428732" y="4983480"/>
            <a:ext cx="82296" cy="0"/>
          </a:xfrm>
          <a:prstGeom prst="bentConnector3">
            <a:avLst/>
          </a:prstGeom>
          <a:ln w="22225">
            <a:solidFill>
              <a:srgbClr val="1C7293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10515600" y="4343400"/>
            <a:ext cx="1508760" cy="1280160"/>
          </a:xfrm>
          <a:prstGeom prst="rect">
            <a:avLst/>
          </a:prstGeom>
          <a:solidFill>
            <a:srgbClr val="DCEEF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607040" y="4617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Export do
výstupní složky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172200" y="3611880"/>
            <a:ext cx="0" cy="457200"/>
          </a:xfrm>
          <a:prstGeom prst="bentConnector3">
            <a:avLst/>
          </a:prstGeom>
          <a:ln w="38100">
            <a:solidFill>
              <a:srgbClr val="F5B041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263640" y="373075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1">
                <a:solidFill>
                  <a:srgbClr val="F5B041"/>
                </a:solidFill>
                <a:latin typeface="Calibri"/>
              </a:rPr>
              <a:t>cleanedText (z cache)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dirty="0" err="1">
                <a:solidFill>
                  <a:srgbClr val="21295C"/>
                </a:solidFill>
                <a:latin typeface="Calibri"/>
              </a:rPr>
              <a:t>Klíčové</a:t>
            </a:r>
            <a:r>
              <a:rPr sz="3000" b="1" i="0" dirty="0">
                <a:solidFill>
                  <a:srgbClr val="21295C"/>
                </a:solidFill>
                <a:latin typeface="Calibri"/>
              </a:rPr>
              <a:t> </a:t>
            </a:r>
            <a:r>
              <a:rPr lang="cs-CZ" sz="3000" b="1" i="0" dirty="0">
                <a:solidFill>
                  <a:srgbClr val="21295C"/>
                </a:solidFill>
                <a:latin typeface="Calibri"/>
              </a:rPr>
              <a:t>aplikační </a:t>
            </a:r>
            <a:r>
              <a:rPr sz="3000" b="1" i="0" dirty="0" err="1">
                <a:solidFill>
                  <a:srgbClr val="21295C"/>
                </a:solidFill>
                <a:latin typeface="Calibri"/>
              </a:rPr>
              <a:t>funkce</a:t>
            </a:r>
            <a:endParaRPr sz="3000" b="1" i="0" dirty="0">
              <a:solidFill>
                <a:srgbClr val="21295C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Co dělá SpiceHarvester praktickým nástrojem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15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22960" y="1773936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181965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609344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Lokální zpracování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938528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Vše běží lokálně přes OpenAI-kompatibilní server (LM Studio / MLX). Data nikdy neopouští počítač.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91072" y="1463040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91072" y="1463040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611112" y="1773936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11112" y="181965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1192" y="1609344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Dvoustupňová cache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1192" y="1938528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Per-dokument cache (SHA-256 → cleanedText) + per-inference cache (prompt + model + docs). Iterace promptu = okamžitý výsledek.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633472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2633472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22960" y="2944368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299008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2779776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OCR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3108960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PDFKit pro nativní PDF, Apple Vision OCR pro skeny. Volitelně Vision → VLM pipeline pro nejtěžší případy.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91072" y="2633472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291072" y="2633472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611112" y="2944368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11112" y="299008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51192" y="2779776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Tři režimy extrakce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1192" y="3108960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FAST pro rychlost, SEARCH pro dlouhé texty s RAG, CONSOLIDATE pro souhrny napříč celým batchem.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803904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02920" y="3803904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22960" y="4114800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2960" y="416052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3950208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Auto-detekce kontextu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63040" y="4279392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Aplikace si přečte loaded_context_length z LM Studia a před velkým CONSOLIDATE batchem ho znovu zkontroluje.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91072" y="3803904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291072" y="3803904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611112" y="4114800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11112" y="416052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51192" y="3950208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Robustní cancel &amp; retry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51192" y="4279392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Cooperative cancellation napříč pipeline. Retry na 502/503/504, timeout, connection-lost s exponential backoff.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974336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02920" y="4974336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2960" y="5285232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22960" y="533095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63040" y="5120640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Parameter conflict detection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63040" y="5449824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SHPromptAnalyzer rozpozná, že prompt nesedí s režimem, a nabídne jednoklikové přepnutí žlutým bannerem.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91072" y="4974336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291072" y="4974336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6611112" y="5285232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11112" y="533095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51192" y="5120640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Flexibilní export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51192" y="5449824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JSON kanonický, CSV s UTF-8 BOM (Excel-friendly), TXT, raw odpovědi modelu pro audit, agregát raw_responses.json.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dirty="0" err="1">
                <a:solidFill>
                  <a:srgbClr val="21295C"/>
                </a:solidFill>
                <a:latin typeface="Calibri"/>
              </a:rPr>
              <a:t>Automatizace a integrace s macOS</a:t>
            </a:r>
            <a:endParaRPr sz="3000" b="1" i="0" dirty="0">
              <a:solidFill>
                <a:srgbClr val="21295C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Job-ready Shortcuts, multi-window, projekty, native menu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16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22960" y="1773936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181965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609344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Shortcuts.app jako job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938528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Akce Spustit extrakci s volitelnými parametry Režim a Název promptu. perform() ČEKÁ na dokončení a vrátí cestu k results.csv pro řetězení dalších kroků.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91072" y="1463040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91072" y="1463040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611112" y="1773936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11112" y="181965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1192" y="1609344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Plánované běhy (cron-like)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1192" y="1938528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Zkratky.app → Automatizace → Time of Day. Denní extrakce v 8:00, navazující akce: poslat CSV na mail, push do gitu, notify na Slack. Bez Ask Before Running tichý běh.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633472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2633472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22960" y="2944368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299008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2779776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Multi-window architektura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3108960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Primary okno persistuje config; scratch okna (Cmd+Shift+N) mají izolovaný stav. Per-window PersistenceMode chrání primary's UserDefaults před experimenty.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91072" y="2633472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291072" y="2633472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611112" y="2944368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11112" y="299008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51192" y="2779776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Save / Load Project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1192" y="3108960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.spiceharvester.json snapshot: folders + model + prompt + režim. Cmd+Shift+S uloží, Cmd+O načte. Server registry zůstává globální (mezi projekty se nemíchá).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803904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02920" y="3803904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22960" y="4114800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2960" y="416052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3950208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Otevřít nedávné · sandbox-aware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63040" y="4279392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Posledních 8 projektů s persistentními security-scoped bookmarky — přežijí restart aplikace. Cross-window sync přes NotificationCenter.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91072" y="3803904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291072" y="3803904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611112" y="4114800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11112" y="416052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51192" y="3950208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AppIntents · Siri · Spotlight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51192" y="4279392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Frází Spusť Spice Harvester / Run Spice Harvester. macOS 14+ vystavuje akce v gallery i Spotlight nabídkách. Strukturovaný ReturnsValue + ProvidesDialog.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974336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02920" y="4974336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2960" y="5285232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22960" y="533095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63040" y="5120640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Pipeline menu bar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63040" y="5449824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Top-level CommandMenu Pipeline: Spustit (Cmd+R), Přerušit (Cmd+.), režim FAST/SEARCH/CONSOLIDATE (Cmd+1/2/3). Konvence Xcode/Logic/Final Cut.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91072" y="4974336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291072" y="4974336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6611112" y="5285232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11112" y="533095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51192" y="5120640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Health watcher + manuální recheck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51192" y="5449824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30 s ambient ping na /v1/models; status pill zčervená při disconnectu. Pipeline → Znovu ověřit zdraví serveru pro okamžitou kontrolu po restartu LM Studia.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64924-8D0F-F052-5A8C-598AB943B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ovéPole 55">
            <a:extLst>
              <a:ext uri="{FF2B5EF4-FFF2-40B4-BE49-F238E27FC236}">
                <a16:creationId xmlns:a16="http://schemas.microsoft.com/office/drawing/2014/main" id="{FD0B054E-3CB5-0078-C218-40A072024161}"/>
              </a:ext>
            </a:extLst>
          </p:cNvPr>
          <p:cNvSpPr txBox="1"/>
          <p:nvPr/>
        </p:nvSpPr>
        <p:spPr>
          <a:xfrm>
            <a:off x="2002818" y="3013501"/>
            <a:ext cx="81860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4800" b="1" dirty="0"/>
              <a:t>Děkuji za pozornost</a:t>
            </a:r>
          </a:p>
        </p:txBody>
      </p:sp>
    </p:spTree>
    <p:extLst>
      <p:ext uri="{BB962C8B-B14F-4D97-AF65-F5344CB8AC3E}">
        <p14:creationId xmlns:p14="http://schemas.microsoft.com/office/powerpoint/2010/main" val="14131845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2889</TotalTime>
  <Words>2440</Words>
  <Application>Microsoft Macintosh PowerPoint</Application>
  <PresentationFormat>Širokoúhlá obrazovka</PresentationFormat>
  <Paragraphs>383</Paragraphs>
  <Slides>16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4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Menlo</vt:lpstr>
      <vt:lpstr>Office Theme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David Mašín</cp:lastModifiedBy>
  <cp:revision>9</cp:revision>
  <dcterms:created xsi:type="dcterms:W3CDTF">2013-01-27T09:14:16Z</dcterms:created>
  <dcterms:modified xsi:type="dcterms:W3CDTF">2026-05-03T06:35:50Z</dcterms:modified>
  <cp:category/>
</cp:coreProperties>
</file>