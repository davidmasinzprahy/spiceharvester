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43"/>
    <p:restoredTop sz="94654"/>
  </p:normalViewPr>
  <p:slideViewPr>
    <p:cSldViewPr snapToGrid="0" snapToObjects="1">
      <p:cViewPr varScale="1">
        <p:scale>
          <a:sx n="200" d="100"/>
          <a:sy n="200" d="100"/>
        </p:scale>
        <p:origin x="168" y="10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400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F53D9FB6-F253-DE24-6C7F-A853D67C3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68F7347C-F0E1-D6CC-E790-B6D50D05BA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F4932-E4B7-F94D-8B24-1930869AC884}" type="datetimeFigureOut">
              <a:rPr lang="cs-CZ" smtClean="0"/>
              <a:t>01.05.2026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D1D07CD-A335-C57F-65E5-05AFB28712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7E8D5C0-87AB-798B-1268-E39DAE1D7B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DC4B0-186C-CF48-BADC-E781F3395D0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32173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Skupina 6">
            <a:extLst>
              <a:ext uri="{FF2B5EF4-FFF2-40B4-BE49-F238E27FC236}">
                <a16:creationId xmlns:a16="http://schemas.microsoft.com/office/drawing/2014/main" id="{6550C924-DE76-7971-5890-2546FAC049B5}"/>
              </a:ext>
            </a:extLst>
          </p:cNvPr>
          <p:cNvGrpSpPr/>
          <p:nvPr userDrawn="1"/>
        </p:nvGrpSpPr>
        <p:grpSpPr>
          <a:xfrm>
            <a:off x="11292840" y="386080"/>
            <a:ext cx="640080" cy="640080"/>
            <a:chOff x="11292840" y="182880"/>
            <a:chExt cx="640080" cy="640080"/>
          </a:xfrm>
        </p:grpSpPr>
        <p:sp>
          <p:nvSpPr>
            <p:cNvPr id="5" name="__brand_circle"/>
            <p:cNvSpPr/>
            <p:nvPr/>
          </p:nvSpPr>
          <p:spPr>
            <a:xfrm>
              <a:off x="11292840" y="182880"/>
              <a:ext cx="640080" cy="64008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__brand_icon" descr="kombajn-whit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1712" y="301752"/>
              <a:ext cx="402336" cy="402336"/>
            </a:xfrm>
            <a:prstGeom prst="rect">
              <a:avLst/>
            </a:prstGeom>
          </p:spPr>
        </p:pic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2C273D43-2F61-5D97-96BF-DF4198B64D3F}"/>
              </a:ext>
            </a:extLst>
          </p:cNvPr>
          <p:cNvSpPr/>
          <p:nvPr userDrawn="1"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EE8CA9C-F161-8016-996F-BD3D19C62368}"/>
              </a:ext>
            </a:extLst>
          </p:cNvPr>
          <p:cNvSpPr/>
          <p:nvPr userDrawn="1"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52460" y="1623060"/>
            <a:ext cx="3611880" cy="3611880"/>
          </a:xfrm>
          <a:prstGeom prst="ellipse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1783080"/>
            <a:ext cx="3291840" cy="32918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kombaj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42316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F5B041"/>
                </a:solidFill>
                <a:latin typeface="Calibri"/>
              </a:rPr>
              <a:t>MACOS · SWIFTUI · LOKÁLNÍ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SpiceHarvester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Dávkové vytěžování dat z PDF dokumentů
bez cloudu, jen s lokálním modelem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7315200" cy="10058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6858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Analýza kódu a přehled funkcí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B8C8E0"/>
                </a:solidFill>
                <a:latin typeface="Calibri"/>
              </a:rPr>
              <a:t>David Mašín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Co SpiceHarvester dělá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Z PDF do strukturovaného JSON jedním kliknutím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SpiceHarvester je nativní macOS desktop aplikace, která dávkově projde složku s PDF dokumenty, vytěží z nich data podle vašeho promptu a vyexportuje výsledky do JSON / TXT / CSV.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Veškerá inference běží na lokálním OpenAI-kompatibilním serveru (LM Studio nebo MLX). Žádný cloud, žádná telemetrie, data neopouští počítač uživatele.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Předzpracování + 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Scan složky · SHA-256 hash · PDFKit extrakce · Vision OCR fallback · cleaner · per-dokument JSON cache.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8056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Inference přes lokální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Tři režimy (FAST / SEARCH / CONSOLIDATE), pre-flight token check, auto-detekce kontextu, retry na transient chyby.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7532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Export a kontrola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JSON kanonický, CSV s UTF-8 BOM pro Excel, TXT, raw odpovědi modelu pro audit. Speciální markery `=====CSV=====` / `=====TXT=====`.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PRIVACY  ·  COMPLIANCE  ·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Vše ve vašem Macu.
Lokálně.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PDF dokumenty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Originály i extrahovaný text zůstávají
v uživatelem zvolené složce.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1960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392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Lokální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392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LM Studio nebo MLX server běží
na stejném počítači — žádný API call ven.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624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1624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Cache + výstup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JSON / CSV / TXT / raw odpovědi
se ukládají vedle vstupních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10515600" cy="118872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4983480"/>
            <a:ext cx="109728" cy="118872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1846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Co aplikace NEDĚLÁ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cloud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žádná telemetrie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účet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žádné API klíče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5752" y="5623560"/>
            <a:ext cx="1755648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45752" y="5736689"/>
            <a:ext cx="175564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✗ 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žádný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měsíční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poplatek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Pacientská, právní i finanční data se nikdy nedostanou ven z počítače.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HARDWARE  ·  SOFTWARE  ·  LLM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 k tomu potřebujete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8D4E6"/>
                </a:solidFill>
                <a:latin typeface="Calibri"/>
              </a:rPr>
              <a:t>Stačí vám jeden Mac. Pro velké modely lze model přesunout na výkonnější stroj v lokální síti.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Mac, na kterém běží aplikace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296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Apple Silicon — M1, M2, M3 nebo M4   (Intel Mac není podporován)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Min. 16 GB RAM  ·  doporučeno 32 GB+ pro větší modely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 5–50 GB volného místa pro modely a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768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macOS 14 Sonoma nebo novější   ·   samotná aplikace SpiceHarvester (.app)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37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LLM provider (kde běží 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Stačí libovolný OpenAI-kompatibilní server</a:t>
            </a:r>
          </a:p>
        </p:txBody>
      </p:sp>
      <p:sp>
        <p:nvSpPr>
          <p:cNvPr id="17" name="Oval 16"/>
          <p:cNvSpPr/>
          <p:nvPr/>
        </p:nvSpPr>
        <p:spPr>
          <a:xfrm>
            <a:off x="6839712" y="334670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LM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GUI aplikace, doporučeno pro start. Auto-detekce kontextu, modely se stahují jedním klikem.</a:t>
            </a:r>
          </a:p>
        </p:txBody>
      </p:sp>
      <p:sp>
        <p:nvSpPr>
          <p:cNvPr id="20" name="Oval 19"/>
          <p:cNvSpPr/>
          <p:nvPr/>
        </p:nvSpPr>
        <p:spPr>
          <a:xfrm>
            <a:off x="6839712" y="371246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657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MLX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80390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CLI (Apple MLX framework). Nejrychlejší inference na Apple Silicon.</a:t>
            </a:r>
          </a:p>
        </p:txBody>
      </p:sp>
      <p:sp>
        <p:nvSpPr>
          <p:cNvPr id="23" name="Oval 22"/>
          <p:cNvSpPr/>
          <p:nvPr/>
        </p:nvSpPr>
        <p:spPr>
          <a:xfrm>
            <a:off x="6839712" y="407822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40233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Ollama  (s OpenAI-compat shim)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16966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Populární CLI. Funguje přes OpenAI-kompatibilní endpoint.</a:t>
            </a:r>
          </a:p>
        </p:txBody>
      </p:sp>
      <p:sp>
        <p:nvSpPr>
          <p:cNvPr id="26" name="Oval 25"/>
          <p:cNvSpPr/>
          <p:nvPr/>
        </p:nvSpPr>
        <p:spPr>
          <a:xfrm>
            <a:off x="6839712" y="444398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Jakýkoli další server s OpenAI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53542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vLLM, llama.cpp server, LocalAI a další — endpoint /v1/chat/completions.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83480"/>
            <a:ext cx="11155680" cy="1280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" y="4983480"/>
            <a:ext cx="109728" cy="12801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51480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Pro velké modely:  model na jiném stroji v lokální síti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V Předvolbách změníte adresu serveru z localhost na IP stroje v LAN (např. http://192.168.1.50:1234/v1).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1732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Výkonnější Mac (Mac Studio M2/M3 Ultra) — větší RAM = větší modely (70B+).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NVIDIA DGX Spark (GB10) — desktop AI workstation pro modely 100 B+ parametrů.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Aplikace komunikuje pouze HTTP(S) na zvolenou adresu — žádný cloud, žádné API klíče, data zůstávají v LAN.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Náhled hlavního okna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Dvousloupcový HSplitView · konfigurace vlevo, runtime vpravo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10607040" cy="4572000"/>
          </a:xfrm>
          <a:prstGeom prst="rect">
            <a:avLst/>
          </a:prstGeom>
          <a:solidFill>
            <a:srgbClr val="ECF0F4"/>
          </a:solidFill>
          <a:ln w="9525">
            <a:solidFill>
              <a:srgbClr val="C4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10607040" cy="38404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5256" y="1536192"/>
            <a:ext cx="146304" cy="146304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1288" y="1536192"/>
            <a:ext cx="146304" cy="146304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17320" y="1536192"/>
            <a:ext cx="146304" cy="146304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2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Help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solidFill>
            <a:srgbClr val="065A82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Spustit</a:t>
            </a:r>
          </a:p>
        </p:txBody>
      </p:sp>
      <p:sp>
        <p:nvSpPr>
          <p:cNvPr id="20" name="Oval 19"/>
          <p:cNvSpPr/>
          <p:nvPr/>
        </p:nvSpPr>
        <p:spPr>
          <a:xfrm>
            <a:off x="7045452" y="1549908"/>
            <a:ext cx="118872" cy="118872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481328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21295C"/>
                </a:solidFill>
                <a:latin typeface="Calibri"/>
              </a:rPr>
              <a:t>Připraveno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74520"/>
            <a:ext cx="5029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196596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Složky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258568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Vstupní:  ~/Documents/PDFs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514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Výstupní:  ~/Documents/Vystupy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7706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 ~/Library/Caches/SH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044952"/>
            <a:ext cx="50292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Server a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290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Server:  http://localhost:1234/v1   [Ověřit]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85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Inference:  qwen2.5-14b-instruct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41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Režim:  [ FAST ]  [ SEARCH ]  [ CONSOLIDATE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43984"/>
            <a:ext cx="502920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53542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Prompt   [ Načíst .md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828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Vrať pro každý PDF JSON s poli: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084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patient_name, birth_date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34009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diagnoses (ICD-10), medication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1874520"/>
            <a:ext cx="51206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1965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Průběh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258568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Fáze: Extrakce  ·  Dokumenty: 47 / 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51460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Aktuální: zprava_2024_03_12.pdf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70632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38× hit  ·  9×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026664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ETA: ~ 4 min 20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282696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Avg: 1 240 ms / dokument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657600"/>
            <a:ext cx="4663440" cy="164592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3657600"/>
            <a:ext cx="1095908" cy="1645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126480" y="4160520"/>
            <a:ext cx="512064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4251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526280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12:04:18  scan  ·  nalezeno 200 PDF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727448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12:04:19  hash  ·  47 cache-hit, 153 nových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928616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12:04:25  extract  ·  zprava_034.pdf  ·  cache-miss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129784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12:04:27  extract  ·  zprava_034.pdf  ·  ✓ 1 180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330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12:04:28  extract  ·  zprava_035.pdf  ·  cache-hit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696712"/>
            <a:ext cx="10607040" cy="29260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05840" y="5696712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1295C"/>
                </a:solidFill>
                <a:latin typeface="Calibri"/>
              </a:rPr>
              <a:t>Server dostupný · modely: 12 · kontext 32k tok.  ·  Zpracovávám…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5696712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47 / 200  ·  cache 38×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C6B82"/>
                </a:solidFill>
                <a:latin typeface="Calibri"/>
              </a:rPr>
              <a:t>Schematický náhled — skutečné UI používá .regularMaterial glass cards a nativní macOS toolbar.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Use cases — pro koho je to užitečné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Schéma výstupu definuje uživatelský prompt, doménově univerzální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70332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Zdravotnictví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Ambulantní, propouštěcí a překladové zprávy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235000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pacientských dat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" y="271576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Diagnózy, medikace, lab. hodnoty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" y="308152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Výpis hospitalizací do registru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" y="3447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Dedup pacientů přes CONSOLIDATE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15087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9432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Právo a soudnictví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Smlouvy, posudky, soudní spisy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235000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73752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stran, dat, částek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271576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73752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klauzulí napříč smlouvami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308152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73752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Katalogizace podkladů ke znal. posudku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344728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73752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anomálií ve verzích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38744" y="1508760"/>
            <a:ext cx="3703320" cy="64008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Účetnictví a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Faktury, dodací listy, výpisy</a:t>
            </a:r>
          </a:p>
        </p:txBody>
      </p:sp>
      <p:sp>
        <p:nvSpPr>
          <p:cNvPr id="36" name="Oval 35"/>
          <p:cNvSpPr/>
          <p:nvPr/>
        </p:nvSpPr>
        <p:spPr>
          <a:xfrm>
            <a:off x="8503920" y="235000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41664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IČO, DIČ, čísla faktur, splatnosti</a:t>
            </a:r>
          </a:p>
        </p:txBody>
      </p:sp>
      <p:sp>
        <p:nvSpPr>
          <p:cNvPr id="38" name="Oval 37"/>
          <p:cNvSpPr/>
          <p:nvPr/>
        </p:nvSpPr>
        <p:spPr>
          <a:xfrm>
            <a:off x="8503920" y="271576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41664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Položkové rozpisy do CSV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0" y="308152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41664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Reconciliace s účetním systémem</a:t>
            </a:r>
          </a:p>
        </p:txBody>
      </p:sp>
      <p:sp>
        <p:nvSpPr>
          <p:cNvPr id="42" name="Oval 41"/>
          <p:cNvSpPr/>
          <p:nvPr/>
        </p:nvSpPr>
        <p:spPr>
          <a:xfrm>
            <a:off x="8503920" y="344728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41664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Daňová kontrola archivních PDF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3977640"/>
            <a:ext cx="3703320" cy="640080"/>
          </a:xfrm>
          <a:prstGeom prst="rect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Veřejná správa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Zápisy, rozhodnutí, žádosti</a:t>
            </a:r>
          </a:p>
        </p:txBody>
      </p:sp>
      <p:sp>
        <p:nvSpPr>
          <p:cNvPr id="48" name="Oval 47"/>
          <p:cNvSpPr/>
          <p:nvPr/>
        </p:nvSpPr>
        <p:spPr>
          <a:xfrm>
            <a:off x="768096" y="481888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5840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rozhodnutí úřadů</a:t>
            </a:r>
          </a:p>
        </p:txBody>
      </p:sp>
      <p:sp>
        <p:nvSpPr>
          <p:cNvPr id="50" name="Oval 49"/>
          <p:cNvSpPr/>
          <p:nvPr/>
        </p:nvSpPr>
        <p:spPr>
          <a:xfrm>
            <a:off x="768096" y="518464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05840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Archivace žádostí a rozhodnutí</a:t>
            </a:r>
          </a:p>
        </p:txBody>
      </p:sp>
      <p:sp>
        <p:nvSpPr>
          <p:cNvPr id="52" name="Oval 51"/>
          <p:cNvSpPr/>
          <p:nvPr/>
        </p:nvSpPr>
        <p:spPr>
          <a:xfrm>
            <a:off x="768096" y="555040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05840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Audit dokumentových workflow</a:t>
            </a:r>
          </a:p>
        </p:txBody>
      </p:sp>
      <p:sp>
        <p:nvSpPr>
          <p:cNvPr id="54" name="Oval 53"/>
          <p:cNvSpPr/>
          <p:nvPr/>
        </p:nvSpPr>
        <p:spPr>
          <a:xfrm>
            <a:off x="768096" y="591616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Plnění GDPR (data lokálně)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370832" y="3977640"/>
            <a:ext cx="3703320" cy="64008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99432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Technická dokumentace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9432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Manuály, normy, datasheety</a:t>
            </a:r>
          </a:p>
        </p:txBody>
      </p:sp>
      <p:sp>
        <p:nvSpPr>
          <p:cNvPr id="60" name="Oval 59"/>
          <p:cNvSpPr/>
          <p:nvPr/>
        </p:nvSpPr>
        <p:spPr>
          <a:xfrm>
            <a:off x="4636008" y="481888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3752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parametrů a specifikací</a:t>
            </a:r>
          </a:p>
        </p:txBody>
      </p:sp>
      <p:sp>
        <p:nvSpPr>
          <p:cNvPr id="62" name="Oval 61"/>
          <p:cNvSpPr/>
          <p:nvPr/>
        </p:nvSpPr>
        <p:spPr>
          <a:xfrm>
            <a:off x="4636008" y="518464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3752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norem napříč dokumenty</a:t>
            </a:r>
          </a:p>
        </p:txBody>
      </p:sp>
      <p:sp>
        <p:nvSpPr>
          <p:cNvPr id="64" name="Oval 63"/>
          <p:cNvSpPr/>
          <p:nvPr/>
        </p:nvSpPr>
        <p:spPr>
          <a:xfrm>
            <a:off x="4636008" y="555040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73752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referencí a citací</a:t>
            </a:r>
          </a:p>
        </p:txBody>
      </p:sp>
      <p:sp>
        <p:nvSpPr>
          <p:cNvPr id="66" name="Oval 65"/>
          <p:cNvSpPr/>
          <p:nvPr/>
        </p:nvSpPr>
        <p:spPr>
          <a:xfrm>
            <a:off x="4636008" y="591616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73752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certifikátů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238744" y="3977640"/>
            <a:ext cx="3703320" cy="64008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467344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Personalistika a HR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67344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CV, pracovní smlouvy, hodnocení</a:t>
            </a:r>
          </a:p>
        </p:txBody>
      </p:sp>
      <p:sp>
        <p:nvSpPr>
          <p:cNvPr id="72" name="Oval 71"/>
          <p:cNvSpPr/>
          <p:nvPr/>
        </p:nvSpPr>
        <p:spPr>
          <a:xfrm>
            <a:off x="8503920" y="481888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741664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životopisů</a:t>
            </a:r>
          </a:p>
        </p:txBody>
      </p:sp>
      <p:sp>
        <p:nvSpPr>
          <p:cNvPr id="74" name="Oval 73"/>
          <p:cNvSpPr/>
          <p:nvPr/>
        </p:nvSpPr>
        <p:spPr>
          <a:xfrm>
            <a:off x="8503920" y="518464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41664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Sumarizace zkušeností</a:t>
            </a:r>
          </a:p>
        </p:txBody>
      </p:sp>
      <p:sp>
        <p:nvSpPr>
          <p:cNvPr id="76" name="Oval 75"/>
          <p:cNvSpPr/>
          <p:nvPr/>
        </p:nvSpPr>
        <p:spPr>
          <a:xfrm>
            <a:off x="8503920" y="555040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741664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dovedností a vzdělání</a:t>
            </a:r>
          </a:p>
        </p:txBody>
      </p:sp>
      <p:sp>
        <p:nvSpPr>
          <p:cNvPr id="78" name="Oval 77"/>
          <p:cNvSpPr/>
          <p:nvPr/>
        </p:nvSpPr>
        <p:spPr>
          <a:xfrm>
            <a:off x="8503920" y="591616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741664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 lokální zpracování os. údajů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Konkrétní scénáře použití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reálně vznikne za 5 minut s vlastním promptem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Strukturace 200 propouštěcích zpráv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200 PDF v složce. Prompt: extrahuj jméno, RČ, diagnózy (ICD-10), medikaci, datum hospitalizace.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results.csv pro Excel + raw_responses.json pro audit. Druhý běh = 100 % cache hit.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Souhrn 50 smluv napříč dodavateli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9672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50 různých smluv. Prompt: vytvoř souhrnnou tabulku stran, předmětu, ceny, doby plnění a sankčních klauzulí.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jeden konsolidovaný JSON. Při přetečení kontextu se automaticky spustí map-reduce — neztratíte žádný dokument.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Hledání pasáží v dlouhých posudcích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znalecké posudky o 200+ stranách. Prompt: najdi pasáže o vadách stavby a vyextrahuj odkazy na normy.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Embedding model najde top-N relevantních chunků, model odpoví jen nad nimi → rychlejší a přesnější než FAST.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 + markery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Faktury → CSV pro účetní systém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19672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300 PDF faktur. Prompt s markery `=====CSV=====` vrátí přímo CSV řádky se všemi položkami.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9752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invoices_raw.csv s UTF-8 BOM, otevře se v Excelu bez ručních úprav. Import do účetního SW jedním kliknutím.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Zdravotnictví — konkrétní scénáře z praxe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Lokální zpracování = pacientská data nikdy neopustí počítač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164592" cy="2788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VLAJKOVÝ SCÉNÁŘ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21295C"/>
                </a:solidFill>
                <a:latin typeface="Calibri"/>
              </a:rPr>
              <a:t>Příprava datasetu pro vědeckou práci s anonymizací / pseudonymizací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Co se stane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ambulantní a propouštěcí zprávy stovek pacientů.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Prompt: extrahuj diagnózy (ICD-10), lab. hodnoty, datumy, medikaci — a místo jména/RČ vrať pseudo-ID tvaru P-{hash(rodné_číslo)[:8]}.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Druhá fáze: CONSOLIDATE napříč všemi pacienty pro kontrolu duplikátů přes pseudo-ID.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041"/>
                </a:solidFill>
                <a:latin typeface="Calibri"/>
              </a:rPr>
              <a:t>Výstup pro výzkum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dataset.csv s pseudo-ID, ICD-10, hodnotami a datumy — přímo otevřitelný v R / Pythonu.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raw_responses.json pro audit etické komise — všechny odpovědi modelu k dohledání.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Originální PDF + mapování pseudo-ID ↔ pacient zůstávají POUZE na lokálním Macu (nikdy v cloudu).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Vytěžení laboratorních výsledků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Stovky lab nálezů z různých laboratoří v jednom CSV: parametr, hodnota, jednotka, referenční mez, datum odběru. Sjednocené zápisy umožní longitudinální analýzu pacienta v čase.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20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720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45008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500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444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Extrakce medikace a interakcí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Z propouštěcích zpráv vytěžit aktuální medikaci včetně dávkování. Druhý průchod (CONSOLIDATE) napříč pacienty najde kohorty s rizikovou kombinací léků pro klinický audit.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148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3148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1436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1436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872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Předtřídění pro přijímací ambulanci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008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Externí dokumentace nového pacienta projde lokálním modelem dřív, než se otevře v EHR — lékař dostane strukturovaný souhrn diagnóz, alergií a chronické medikace na jeden klik.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Proč SpiceHarvester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dostanete navíc oproti cloudovým řešením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06E5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Soukromí a compliance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457200" cy="20000"/>
          </a:xfrm>
          <a:prstGeom prst="rect">
            <a:avLst/>
          </a:prstGeom>
          <a:solidFill>
            <a:srgbClr val="106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Data nikdy neopouští počítač. Vhodné pro zdravotnictví, advokátní kanceláře, veřejnou správu, GDPR-citlivé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2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9C4A1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Nulové provozní náklady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926080"/>
            <a:ext cx="457200" cy="2000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9432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Žádné tokeny, žádný měsíční poplatek za API. Pouze hardware a elektřina. Otevřené modely zdarma.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67344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065A82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Plně auditovatelné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2926080"/>
            <a:ext cx="457200" cy="20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7344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Raw odpovědi modelu se vždy ukládají. Inference cache je transparentní JSON. Logy v lokálním čase, escapované hodnoty.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C72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Rychlá iterace promptu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94960"/>
            <a:ext cx="457200" cy="20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Per-inference cache zaručí, že po změně promptu se znovu neprojíždí OCR ani PDF parsing. Vývojový cyklus v sekundách.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9432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6E3A6B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Žádný vendor lock-in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99432" y="5394960"/>
            <a:ext cx="457200" cy="2000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99432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OpenAI-kompatibilní API: lze přepnout mezi LM Studio, MLX, v budoucnu vlastní backend. Promptu zůstávají stejné.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F4F7A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Otevřená a univerzální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7344" y="5394960"/>
            <a:ext cx="457200" cy="2000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67344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Schéma výstupu řídí prompt — žádné natvrdo zadrátované pole. Stejná aplikace funguje na zdravotnictví i na fakturách.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Vše stojí a padá s promptem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Jedna věta nestačí — strukturovaný prompt je hlavní páka kvality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669280" cy="411480"/>
          </a:xfrm>
          <a:prstGeom prst="rect">
            <a:avLst/>
          </a:prstGeom>
          <a:solidFill>
            <a:srgbClr val="C4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✗  Nestačí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1B223A"/>
                </a:solidFill>
                <a:latin typeface="Menlo"/>
              </a:rPr>
              <a:t>„Vytáhni z PDF důležité informace."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Model nemá schéma → každý PDF vrátí jiný tvar JSON.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ICD-10 / formátů dat → nečitelná data pro Excel.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příkladu → halucinace, neplatný JSON, repair fail.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508760"/>
            <a:ext cx="566928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Strukturovaný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065A82"/>
                </a:solidFill>
                <a:latin typeface="Calibri"/>
              </a:rPr>
              <a:t>Role + úkol + schéma + pravidla + příklad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Pevně daný JSON tvar → konzistentní export do CSV.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Jasné formáty (ISO datum, ICD-10) → dataset připravený k analýze.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Jeden ukázkový vzor → drasticky méně chyb a oprav.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1295C"/>
                </a:solidFill>
                <a:latin typeface="Calibri"/>
              </a:rPr>
              <a:t>Co musí prompt obsahovat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Kým je model? („Jsi extraktor zdravotnických dat…")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6688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548128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8128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8128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ÚKOL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3848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přesně dělá s každým dokumentem.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0456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01896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1896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1896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SCHÉMA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7616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Přesný JSON tvar včetně typů a povinných polí.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55664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PRAVIDLA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dělat když pole chybí, formáty datumu, jazyk výstupu.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7992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409432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09432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9432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PŘÍKLAD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5152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Jeden ukázkový vstup→výstup pro disambiguaci.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76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36320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6320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320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CONSTRAINTS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92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„Pouze JSON, bez markdownu, bez vysvětlení."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solidFill>
            <a:srgbClr val="FFF6E3"/>
          </a:solidFill>
          <a:ln w="9525">
            <a:solidFill>
              <a:srgbClr val="F5B0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21295C"/>
                </a:solidFill>
                <a:latin typeface="Calibri"/>
              </a:rPr>
              <a:t>Tip:  prompty se ukládají jako .md soubory — verzujete je v Gitu, sdílíte v týmu, a s novým modelem často stačí stejný prompt pro lepší výsledky.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Volíte podle délky dokumentů a typu úlohy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703320" cy="10058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dokument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Plný cleanedText jako kontext.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" y="395478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Krátké až střední PDF</a:t>
            </a:r>
          </a:p>
        </p:txBody>
      </p:sp>
      <p:sp>
        <p:nvSpPr>
          <p:cNvPr id="15" name="Oval 14"/>
          <p:cNvSpPr/>
          <p:nvPr/>
        </p:nvSpPr>
        <p:spPr>
          <a:xfrm>
            <a:off x="845820" y="436626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Bez embedding modelu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" y="477774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Nejnižší latence</a:t>
            </a:r>
          </a:p>
        </p:txBody>
      </p:sp>
      <p:sp>
        <p:nvSpPr>
          <p:cNvPr id="19" name="Oval 18"/>
          <p:cNvSpPr/>
          <p:nvPr/>
        </p:nvSpPr>
        <p:spPr>
          <a:xfrm>
            <a:off x="845820" y="518922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Default volba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1554480"/>
            <a:ext cx="3703320" cy="1005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RAG s embeddingy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Chunking + paralelní embeddings + top-N (volitelný reranker přes /v1/rerank).</a:t>
            </a:r>
          </a:p>
        </p:txBody>
      </p:sp>
      <p:sp>
        <p:nvSpPr>
          <p:cNvPr id="26" name="Oval 25"/>
          <p:cNvSpPr/>
          <p:nvPr/>
        </p:nvSpPr>
        <p:spPr>
          <a:xfrm>
            <a:off x="4732020" y="395478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Dlouhé dokumenty</a:t>
            </a:r>
          </a:p>
        </p:txBody>
      </p:sp>
      <p:sp>
        <p:nvSpPr>
          <p:cNvPr id="28" name="Oval 27"/>
          <p:cNvSpPr/>
          <p:nvPr/>
        </p:nvSpPr>
        <p:spPr>
          <a:xfrm>
            <a:off x="4732020" y="436626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Stačí relevantní pasáže</a:t>
            </a:r>
          </a:p>
        </p:txBody>
      </p:sp>
      <p:sp>
        <p:nvSpPr>
          <p:cNvPr id="30" name="Oval 29"/>
          <p:cNvSpPr/>
          <p:nvPr/>
        </p:nvSpPr>
        <p:spPr>
          <a:xfrm>
            <a:off x="4732020" y="477774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Vyžaduje embed model</a:t>
            </a:r>
          </a:p>
        </p:txBody>
      </p:sp>
      <p:sp>
        <p:nvSpPr>
          <p:cNvPr id="32" name="Oval 31"/>
          <p:cNvSpPr/>
          <p:nvPr/>
        </p:nvSpPr>
        <p:spPr>
          <a:xfrm>
            <a:off x="4732020" y="518922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Fallback na N chunků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1554480"/>
            <a:ext cx="3703320" cy="100584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celý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Pre-flight token budget check. Map-reduce fallback při přetečení.</a:t>
            </a:r>
          </a:p>
        </p:txBody>
      </p:sp>
      <p:sp>
        <p:nvSpPr>
          <p:cNvPr id="39" name="Oval 38"/>
          <p:cNvSpPr/>
          <p:nvPr/>
        </p:nvSpPr>
        <p:spPr>
          <a:xfrm>
            <a:off x="8618220" y="395478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154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Dedup napříč dokumenty</a:t>
            </a:r>
          </a:p>
        </p:txBody>
      </p:sp>
      <p:sp>
        <p:nvSpPr>
          <p:cNvPr id="41" name="Oval 40"/>
          <p:cNvSpPr/>
          <p:nvPr/>
        </p:nvSpPr>
        <p:spPr>
          <a:xfrm>
            <a:off x="8618220" y="436626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154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Souhrny, agregace</a:t>
            </a:r>
          </a:p>
        </p:txBody>
      </p:sp>
      <p:sp>
        <p:nvSpPr>
          <p:cNvPr id="43" name="Oval 42"/>
          <p:cNvSpPr/>
          <p:nvPr/>
        </p:nvSpPr>
        <p:spPr>
          <a:xfrm>
            <a:off x="8618220" y="477774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154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Auto-refresh kontextu</a:t>
            </a:r>
          </a:p>
        </p:txBody>
      </p:sp>
      <p:sp>
        <p:nvSpPr>
          <p:cNvPr id="45" name="Oval 44"/>
          <p:cNvSpPr/>
          <p:nvPr/>
        </p:nvSpPr>
        <p:spPr>
          <a:xfrm>
            <a:off x="8618220" y="518922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154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Každá fáze má cache slot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TECHNOLOGIE A SHRNUTÍ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Postaveno na nativních macOS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 5.10+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SwiftUI</a:t>
            </a:r>
          </a:p>
        </p:txBody>
      </p:sp>
      <p:sp>
        <p:nvSpPr>
          <p:cNvPr id="9" name="Rectangle 8"/>
          <p:cNvSpPr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MVVM + @Observable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async / await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PDFKit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Vision OCR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OpenAI-compat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macOS 14+ Sandbox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611880"/>
            <a:ext cx="10515600" cy="21945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3611880"/>
            <a:ext cx="109728" cy="21945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886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Souhrn jednou větou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25112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SpiceHarvester proměňuje stovky PDF dokumentů ve strukturovaná data
bez cloudu — s vlastním promptem, lokálním modelem a auditem
od raw odpovědi až po finální CSV.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github.com/davidmasinzprahy · davidmasinzprahy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1264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B8C8E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Schéma architektury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Dvoufázová pipeline · tok: Uživatel → UI → ViewModel → Pipeline → Services + Storage →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417320"/>
            <a:ext cx="10058400" cy="777240"/>
          </a:xfrm>
          <a:prstGeom prst="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ViewModel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304288"/>
            <a:ext cx="10058400" cy="777240"/>
          </a:xfrm>
          <a:prstGeom prst="rect">
            <a:avLst/>
          </a:prstGeom>
          <a:solidFill>
            <a:srgbClr val="DC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3191256"/>
            <a:ext cx="10058400" cy="777240"/>
          </a:xfrm>
          <a:prstGeom prst="rect">
            <a:avLst/>
          </a:prstGeom>
          <a:solidFill>
            <a:srgbClr val="D0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4078224"/>
            <a:ext cx="10058400" cy="777240"/>
          </a:xfrm>
          <a:prstGeom prst="rect">
            <a:avLst/>
          </a:prstGeom>
          <a:solidFill>
            <a:srgbClr val="C4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4965192"/>
            <a:ext cx="10058400" cy="777240"/>
          </a:xfrm>
          <a:prstGeom prst="rect">
            <a:avLst/>
          </a:prstGeom>
          <a:solidFill>
            <a:srgbClr val="B7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011679" y="1508760"/>
            <a:ext cx="21945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19" y="1554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9" y="181965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WindowGroup + 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399" y="1508760"/>
            <a:ext cx="18288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39" y="155448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ContentView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39" y="1819656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HSplitView · Toolbar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1508760"/>
            <a:ext cx="16916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799" y="155448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SettingsView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799" y="181965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Cmd+, Předvolby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508760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599" y="15544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HelpSheet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181965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Cmd+? Nápověda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79" y="2395728"/>
            <a:ext cx="9784080" cy="594360"/>
          </a:xfrm>
          <a:prstGeom prst="rect">
            <a:avLst/>
          </a:prstGeom>
          <a:solidFill>
            <a:srgbClr val="065A82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03119" y="2441448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SHAppViewModel  ·  @Observable @MainActor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9" y="2706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CCE0EE"/>
                </a:solidFill>
                <a:latin typeface="Calibri"/>
              </a:rPr>
              <a:t>Orchestrace běhu · executeRun · cancelRun · parameter conflicts · auto-context refresh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79" y="3282696"/>
            <a:ext cx="31089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103119" y="3328416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SHPreprocessingPipeline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9" y="35935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1 · scan / hash / PDF / OCR / clean / cache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19" y="3282696"/>
            <a:ext cx="33832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94959" y="3328416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SHExtractionPipeline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59" y="359359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2 · FAST / SEARCH / CONSOLIDATE + map-reduce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79" y="3282696"/>
            <a:ext cx="27432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19" y="332841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SHQueueManager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359359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FIFO async semaphore · cancel-safe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031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SHFileScan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scan · SHA-256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59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4903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SHPDFParser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PDFKit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1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9495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SHVisionOCR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5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OCR fallback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3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7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SHTextCleaning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7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anchored regex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5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68679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SHOpenAIClient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79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OpenAI-compat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327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SHPromptAnalyzer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mode hint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79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103119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SHCacheManager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19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per-dokument JSON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86783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078223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SHInferenceCache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78223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per-inference 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61887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053327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SHProcessingLogger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3327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tail · ISO-8601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36991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028431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SHExportService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JSON / CSV / TXT / raw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912095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003535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SHConfigStore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03535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UserDefaults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Datový tok: dvoufázová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Cache na obou úrovních = instant hit při ladění promptu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828800" cy="17373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Předzpracování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B8C8E0"/>
                </a:solidFill>
                <a:latin typeface="Calibri"/>
              </a:rPr>
              <a:t>→ JSON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Scan PDF
ve složce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79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SHA-256
hash souboru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281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150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064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PDFKit
extrakce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283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Vision OCR
fallback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85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154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Text
cleaner v2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287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515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07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Per-doc
cache (JSON)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14800"/>
            <a:ext cx="1828800" cy="17373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Extrakce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257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CCE6EE"/>
                </a:solidFill>
                <a:latin typeface="Calibri"/>
              </a:rPr>
              <a:t>→ JSON / CSV / TXT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Inference
cache 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279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148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Pre-flight
token check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281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7150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8064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Lokální LLM
(LM Studio)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83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3152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Best-effort
decode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285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9154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068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Save raw +
canonical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4287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0515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607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Export do
výstupní složky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72200" y="3611880"/>
            <a:ext cx="0" cy="457200"/>
          </a:xfrm>
          <a:prstGeom prst="bentConnector3">
            <a:avLst/>
          </a:prstGeom>
          <a:ln w="38100">
            <a:solidFill>
              <a:srgbClr val="F5B041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373075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1">
                <a:solidFill>
                  <a:srgbClr val="F5B041"/>
                </a:solidFill>
                <a:latin typeface="Calibri"/>
              </a:rPr>
              <a:t>cleanedText (z cache)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Klíčové</a:t>
            </a:r>
            <a:r>
              <a:rPr sz="3000" b="1" i="0" dirty="0">
                <a:solidFill>
                  <a:srgbClr val="21295C"/>
                </a:solidFill>
                <a:latin typeface="Calibri"/>
              </a:rPr>
              <a:t> </a:t>
            </a:r>
            <a:r>
              <a:rPr lang="cs-CZ" sz="3000" b="1" i="0" dirty="0">
                <a:solidFill>
                  <a:srgbClr val="21295C"/>
                </a:solidFill>
                <a:latin typeface="Calibri"/>
              </a:rPr>
              <a:t>aplikační </a:t>
            </a:r>
            <a:r>
              <a:rPr sz="3000" b="1" i="0" dirty="0" err="1">
                <a:solidFill>
                  <a:srgbClr val="21295C"/>
                </a:solidFill>
                <a:latin typeface="Calibri"/>
              </a:rPr>
              <a:t>funkce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dělá SpiceHarvester praktickým nástrojem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Lokální zpracování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Vše běží lokálně přes OpenAI-kompatibilní server (LM Studio / MLX). Data nikdy neopouští počítač.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Dvoustupňová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Per-dokument cache (SHA-256 → cleanedText) + per-inference cache (prompt + model + docs). Iterace promptu = okamžitý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OCR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PDFKit pro nativní PDF, Apple Vision OCR pro skeny. Volitelně Vision → VLM pipeline pro nejtěžší případy.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FAST pro rychlost, SEARCH pro dlouhé texty s RAG, CONSOLIDATE pro souhrny napříč celým batchem.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Auto-detekce kontextu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Aplikace si přečte loaded_context_length z LM Studia a před velkým CONSOLIDATE batchem ho znovu zkontroluje.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Robustní cancel &amp;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Cooperative cancellation napříč pipeline. Retry na 502/503/504, timeout, connection-lost s exponential backoff.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Parameter conflict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SHPromptAnalyzer rozpozná, že prompt nesedí s režimem, a nabídne jednoklikové přepnutí žlutým bannerem.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Flexibilní export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JSON kanonický, CSV s UTF-8 BOM (Excel-friendly), TXT, raw odpovědi modelu pro audit, agregát raw_responses.json.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4924-8D0F-F052-5A8C-598AB943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ovéPole 55">
            <a:extLst>
              <a:ext uri="{FF2B5EF4-FFF2-40B4-BE49-F238E27FC236}">
                <a16:creationId xmlns:a16="http://schemas.microsoft.com/office/drawing/2014/main" id="{FD0B054E-3CB5-0078-C218-40A072024161}"/>
              </a:ext>
            </a:extLst>
          </p:cNvPr>
          <p:cNvSpPr txBox="1"/>
          <p:nvPr/>
        </p:nvSpPr>
        <p:spPr>
          <a:xfrm>
            <a:off x="2002818" y="3013501"/>
            <a:ext cx="81860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4800" b="1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1413184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2440</Words>
  <Application>Microsoft Macintosh PowerPoint</Application>
  <PresentationFormat>Širokoúhlá obrazovka</PresentationFormat>
  <Paragraphs>383</Paragraphs>
  <Slides>16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Menlo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Mašín</cp:lastModifiedBy>
  <cp:revision>9</cp:revision>
  <dcterms:created xsi:type="dcterms:W3CDTF">2013-01-27T09:14:16Z</dcterms:created>
  <dcterms:modified xsi:type="dcterms:W3CDTF">2026-05-01T06:37:48Z</dcterms:modified>
  <cp:category/>
</cp:coreProperties>
</file>