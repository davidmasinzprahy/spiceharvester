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handoutMasterIdLst>
    <p:handoutMasterId r:id="rId18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4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4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104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95" d="100"/>
          <a:sy n="95" d="100"/>
        </p:scale>
        <p:origin x="4008" y="17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hlaví 1">
            <a:extLst>
              <a:ext uri="{FF2B5EF4-FFF2-40B4-BE49-F238E27FC236}">
                <a16:creationId xmlns:a16="http://schemas.microsoft.com/office/drawing/2014/main" id="{F53D9FB6-F253-DE24-6C7F-A853D67C3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Zástupný symbol pro datum 2">
            <a:extLst>
              <a:ext uri="{FF2B5EF4-FFF2-40B4-BE49-F238E27FC236}">
                <a16:creationId xmlns:a16="http://schemas.microsoft.com/office/drawing/2014/main" id="{68F7347C-F0E1-D6CC-E790-B6D50D05BA3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CF4932-E4B7-F94D-8B24-1930869AC884}" type="datetimeFigureOut">
              <a:rPr lang="cs-CZ" smtClean="0"/>
              <a:t>03.05.2026</a:t>
            </a:fld>
            <a:endParaRPr lang="cs-CZ"/>
          </a:p>
        </p:txBody>
      </p:sp>
      <p:sp>
        <p:nvSpPr>
          <p:cNvPr id="4" name="Zástupný symbol pro zápatí 3">
            <a:extLst>
              <a:ext uri="{FF2B5EF4-FFF2-40B4-BE49-F238E27FC236}">
                <a16:creationId xmlns:a16="http://schemas.microsoft.com/office/drawing/2014/main" id="{3D1D07CD-A335-C57F-65E5-05AFB287125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5" name="Zástupný symbol pro číslo snímku 4">
            <a:extLst>
              <a:ext uri="{FF2B5EF4-FFF2-40B4-BE49-F238E27FC236}">
                <a16:creationId xmlns:a16="http://schemas.microsoft.com/office/drawing/2014/main" id="{47E8D5C0-87AB-798B-1268-E39DAE1D7BF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6DDC4B0-186C-CF48-BADC-E781F3395D0B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63217364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grpSp>
        <p:nvGrpSpPr>
          <p:cNvPr id="7" name="Skupina 6">
            <a:extLst>
              <a:ext uri="{FF2B5EF4-FFF2-40B4-BE49-F238E27FC236}">
                <a16:creationId xmlns:a16="http://schemas.microsoft.com/office/drawing/2014/main" id="{6550C924-DE76-7971-5890-2546FAC049B5}"/>
              </a:ext>
            </a:extLst>
          </p:cNvPr>
          <p:cNvGrpSpPr/>
          <p:nvPr userDrawn="1"/>
        </p:nvGrpSpPr>
        <p:grpSpPr>
          <a:xfrm>
            <a:off x="11292840" y="386080"/>
            <a:ext cx="640080" cy="640080"/>
            <a:chOff x="11292840" y="182880"/>
            <a:chExt cx="640080" cy="640080"/>
          </a:xfrm>
        </p:grpSpPr>
        <p:sp>
          <p:nvSpPr>
            <p:cNvPr id="5" name="__brand_circle"/>
            <p:cNvSpPr/>
            <p:nvPr/>
          </p:nvSpPr>
          <p:spPr>
            <a:xfrm>
              <a:off x="11292840" y="182880"/>
              <a:ext cx="640080" cy="640080"/>
            </a:xfrm>
            <a:prstGeom prst="ellipse">
              <a:avLst/>
            </a:prstGeom>
            <a:solidFill>
              <a:srgbClr val="065A8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6" name="__brand_icon" descr="kombajn-white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411712" y="301752"/>
              <a:ext cx="402336" cy="402336"/>
            </a:xfrm>
            <a:prstGeom prst="rect">
              <a:avLst/>
            </a:prstGeom>
          </p:spPr>
        </p:pic>
      </p:grpSp>
      <p:sp>
        <p:nvSpPr>
          <p:cNvPr id="8" name="Rectangle 1">
            <a:extLst>
              <a:ext uri="{FF2B5EF4-FFF2-40B4-BE49-F238E27FC236}">
                <a16:creationId xmlns:a16="http://schemas.microsoft.com/office/drawing/2014/main" id="{2C273D43-2F61-5D97-96BF-DF4198B64D3F}"/>
              </a:ext>
            </a:extLst>
          </p:cNvPr>
          <p:cNvSpPr/>
          <p:nvPr userDrawn="1"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EEE8CA9C-F161-8016-996F-BD3D19C62368}"/>
              </a:ext>
            </a:extLst>
          </p:cNvPr>
          <p:cNvSpPr/>
          <p:nvPr userDrawn="1"/>
        </p:nvSpPr>
        <p:spPr>
          <a:xfrm>
            <a:off x="0" y="146304"/>
            <a:ext cx="164592" cy="6711696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8252460" y="1623060"/>
            <a:ext cx="3611880" cy="3611880"/>
          </a:xfrm>
          <a:prstGeom prst="ellipse">
            <a:avLst/>
          </a:prstGeom>
          <a:solidFill>
            <a:srgbClr val="101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8412480" y="1783080"/>
            <a:ext cx="3291840" cy="329184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kombajn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423160"/>
            <a:ext cx="2011680" cy="2011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146304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dirty="0">
                <a:solidFill>
                  <a:srgbClr val="F5B041"/>
                </a:solidFill>
                <a:latin typeface="Calibri"/>
              </a:rPr>
              <a:t>MACOS · SWIFTUI · LOKÁLNÍ LLM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74519"/>
            <a:ext cx="73152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200" b="1" i="0" dirty="0" err="1">
                <a:solidFill>
                  <a:srgbClr val="FFFFFF"/>
                </a:solidFill>
                <a:latin typeface="Calibri"/>
              </a:rPr>
              <a:t>SpiceHarvester</a:t>
            </a:r>
            <a:endParaRPr sz="72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22960" y="3200400"/>
            <a:ext cx="73152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Calibri"/>
              </a:rPr>
              <a:t>Dávkové vytěžování dat z PDF dokumentů
bez cloudu, jen s lokálním modelem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5212080"/>
            <a:ext cx="7315200" cy="1005840"/>
          </a:xfrm>
          <a:prstGeom prst="rect">
            <a:avLst/>
          </a:prstGeom>
          <a:solidFill>
            <a:srgbClr val="101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97280" y="5349240"/>
            <a:ext cx="68580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Analýza kódu a přehled funkcí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0" i="0">
                <a:solidFill>
                  <a:srgbClr val="B8C8E0"/>
                </a:solidFill>
                <a:latin typeface="Calibri"/>
              </a:rPr>
              <a:t>David Mašín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46304"/>
            <a:ext cx="164592" cy="6711696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21295C"/>
                </a:solidFill>
                <a:latin typeface="Calibri"/>
              </a:rPr>
              <a:t>Co SpiceHarvester dělá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1C7293"/>
                </a:solidFill>
                <a:latin typeface="Calibri"/>
              </a:rPr>
              <a:t>Z PDF do strukturovaného JSON jedním kliknutím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C6B82"/>
                </a:solidFill>
                <a:latin typeface="Calibri"/>
              </a:rPr>
              <a:t>2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SpiceHarvester · Lokální dávkové vytěžování PDF přes LLM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17320"/>
            <a:ext cx="111556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000"/>
              </a:spcAft>
            </a:pPr>
            <a:r>
              <a:rPr sz="1600" b="0" i="0">
                <a:solidFill>
                  <a:srgbClr val="1B223A"/>
                </a:solidFill>
                <a:latin typeface="Calibri"/>
              </a:rPr>
              <a:t>SpiceHarvester je nativní macOS desktop aplikace, která dávkově projde složku s PDF dokumenty, vytěží z nich data podle vašeho promptu a vyexportuje výsledky do JSON / TXT / CSV.</a:t>
            </a:r>
          </a:p>
          <a:p>
            <a:pPr algn="l">
              <a:lnSpc>
                <a:spcPct val="135000"/>
              </a:lnSpc>
              <a:spcAft>
                <a:spcPts val="1000"/>
              </a:spcAft>
            </a:pPr>
            <a:r>
              <a:rPr sz="1600" b="0" i="0">
                <a:solidFill>
                  <a:srgbClr val="1B223A"/>
                </a:solidFill>
                <a:latin typeface="Calibri"/>
              </a:rPr>
              <a:t>Veškerá inference běží na lokálním OpenAI-kompatibilním serveru (LM Studio nebo MLX). Žádný cloud, žádná telemetrie, data neopouští počítač uživatele.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383280"/>
            <a:ext cx="3657600" cy="2651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2920" y="3383280"/>
            <a:ext cx="3657600" cy="731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685800" y="3657600"/>
            <a:ext cx="640080" cy="64008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3767328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480560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21295C"/>
                </a:solidFill>
                <a:latin typeface="Calibri"/>
              </a:rPr>
              <a:t>Předzpracování + cache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983480"/>
            <a:ext cx="32004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 i="0">
                <a:solidFill>
                  <a:srgbClr val="5C6B82"/>
                </a:solidFill>
                <a:latin typeface="Calibri"/>
              </a:rPr>
              <a:t>Scan složky · SHA-256 hash · PDFKit extrakce · Vision OCR fallback · cleaner · per-dokument JSON cache.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97680" y="3383280"/>
            <a:ext cx="3657600" cy="2651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297680" y="3383280"/>
            <a:ext cx="3657600" cy="731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4480560" y="3657600"/>
            <a:ext cx="640080" cy="64008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480560" y="3767328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80" y="4480560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21295C"/>
                </a:solidFill>
                <a:latin typeface="Calibri"/>
              </a:rPr>
              <a:t>Inference přes lokální LLM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4983480"/>
            <a:ext cx="32004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 i="0">
                <a:solidFill>
                  <a:srgbClr val="5C6B82"/>
                </a:solidFill>
                <a:latin typeface="Calibri"/>
              </a:rPr>
              <a:t>Tři režimy (FAST / SEARCH / CONSOLIDATE), pre-flight token check, auto-detekce kontextu, retry na transient chyby.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92440" y="3383280"/>
            <a:ext cx="3657600" cy="2651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092440" y="3383280"/>
            <a:ext cx="3657600" cy="731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8275320" y="3657600"/>
            <a:ext cx="640080" cy="64008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75320" y="3767328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4480560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21295C"/>
                </a:solidFill>
                <a:latin typeface="Calibri"/>
              </a:rPr>
              <a:t>Export a kontrola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4983480"/>
            <a:ext cx="32004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 i="0">
                <a:solidFill>
                  <a:srgbClr val="5C6B82"/>
                </a:solidFill>
                <a:latin typeface="Calibri"/>
              </a:rPr>
              <a:t>JSON kanonický, CSV s UTF-8 BOM pro Excel, TXT, raw odpovědi modelu pro audit. Speciální markery `=====CSV=====` / `=====TXT=====`.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5B041"/>
                </a:solidFill>
                <a:latin typeface="Calibri"/>
              </a:rPr>
              <a:t>PRIVACY  ·  COMPLIANCE  ·  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156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Vše ve vašem Macu.
Lokálně.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108960"/>
            <a:ext cx="3322320" cy="1463040"/>
          </a:xfrm>
          <a:prstGeom prst="rect">
            <a:avLst/>
          </a:prstGeom>
          <a:solidFill>
            <a:srgbClr val="101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" y="3108960"/>
            <a:ext cx="3322320" cy="73152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97280" y="3337560"/>
            <a:ext cx="2773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PDF dokumenty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40"/>
            <a:ext cx="27736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 i="0">
                <a:solidFill>
                  <a:srgbClr val="C8D4E6"/>
                </a:solidFill>
                <a:latin typeface="Calibri"/>
              </a:rPr>
              <a:t>Originály i extrahovaný text zůstávají
v uživatelem zvolené složce.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19600" y="3108960"/>
            <a:ext cx="3322320" cy="1463040"/>
          </a:xfrm>
          <a:prstGeom prst="rect">
            <a:avLst/>
          </a:prstGeom>
          <a:solidFill>
            <a:srgbClr val="101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419600" y="3108960"/>
            <a:ext cx="3322320" cy="73152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93920" y="3337560"/>
            <a:ext cx="2773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Lokální 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3920" y="3749040"/>
            <a:ext cx="27736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 i="0">
                <a:solidFill>
                  <a:srgbClr val="C8D4E6"/>
                </a:solidFill>
                <a:latin typeface="Calibri"/>
              </a:rPr>
              <a:t>LM Studio nebo MLX server běží
na stejném počítači — žádný API call ven.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16240" y="3108960"/>
            <a:ext cx="3322320" cy="1463040"/>
          </a:xfrm>
          <a:prstGeom prst="rect">
            <a:avLst/>
          </a:prstGeom>
          <a:solidFill>
            <a:srgbClr val="101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016240" y="3108960"/>
            <a:ext cx="3322320" cy="73152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90560" y="3337560"/>
            <a:ext cx="2773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Cache + výstup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0560" y="3749040"/>
            <a:ext cx="27736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 i="0">
                <a:solidFill>
                  <a:srgbClr val="C8D4E6"/>
                </a:solidFill>
                <a:latin typeface="Calibri"/>
              </a:rPr>
              <a:t>JSON / CSV / TXT / raw odpovědi
se ukládají vedle vstupních PDF.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4983480"/>
            <a:ext cx="10515600" cy="1188720"/>
          </a:xfrm>
          <a:prstGeom prst="rect">
            <a:avLst/>
          </a:prstGeom>
          <a:solidFill>
            <a:srgbClr val="101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22960" y="4983480"/>
            <a:ext cx="109728" cy="1188720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143000" y="5184648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5B041"/>
                </a:solidFill>
                <a:latin typeface="Calibri"/>
              </a:rPr>
              <a:t>Co aplikace NEDĚLÁ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623560"/>
            <a:ext cx="1673352" cy="36576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143000" y="5623560"/>
            <a:ext cx="1673352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✗  žádný cloud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80944" y="5623560"/>
            <a:ext cx="2267712" cy="36576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980944" y="5623560"/>
            <a:ext cx="2267712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✗  žádná telemetrie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13248" y="5623560"/>
            <a:ext cx="1554480" cy="36576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413248" y="5623560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✗  žádný účet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0" y="5623560"/>
            <a:ext cx="2148840" cy="36576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132320" y="5623560"/>
            <a:ext cx="21488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✗  žádné API klíče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445752" y="5623560"/>
            <a:ext cx="1755648" cy="36576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445752" y="5736689"/>
            <a:ext cx="1755648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 dirty="0">
                <a:solidFill>
                  <a:srgbClr val="FFFFFF"/>
                </a:solidFill>
                <a:latin typeface="Calibri"/>
              </a:rPr>
              <a:t>✗  </a:t>
            </a:r>
            <a:r>
              <a:rPr sz="1100" b="1" i="0" dirty="0" err="1">
                <a:solidFill>
                  <a:srgbClr val="FFFFFF"/>
                </a:solidFill>
                <a:latin typeface="Calibri"/>
              </a:rPr>
              <a:t>žádný</a:t>
            </a:r>
            <a:r>
              <a:rPr sz="11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100" b="1" i="0" dirty="0" err="1">
                <a:solidFill>
                  <a:srgbClr val="FFFFFF"/>
                </a:solidFill>
                <a:latin typeface="Calibri"/>
              </a:rPr>
              <a:t>měsíční</a:t>
            </a:r>
            <a:r>
              <a:rPr sz="11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100" b="1" i="0" dirty="0" err="1">
                <a:solidFill>
                  <a:srgbClr val="FFFFFF"/>
                </a:solidFill>
                <a:latin typeface="Calibri"/>
              </a:rPr>
              <a:t>poplatek</a:t>
            </a:r>
            <a:endParaRPr sz="11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822960" y="64465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B8C8E0"/>
                </a:solidFill>
                <a:latin typeface="Calibri"/>
              </a:rPr>
              <a:t>Pacientská, právní i finanční data se nikdy nedostanou ven z počítače.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B8C8E0"/>
                </a:solidFill>
                <a:latin typeface="Calibri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5B041"/>
                </a:solidFill>
                <a:latin typeface="Calibri"/>
              </a:rPr>
              <a:t>HARDWARE  ·  SOFTWARE  ·  LLM PROVIDERS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Co k tomu potřebujete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C8D4E6"/>
                </a:solidFill>
                <a:latin typeface="Calibri"/>
              </a:rPr>
              <a:t>Stačí vám jeden Mac. Pro velké modely lze model přesunout na výkonnější stroj v lokální síti.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5440680" cy="2423160"/>
          </a:xfrm>
          <a:prstGeom prst="rect">
            <a:avLst/>
          </a:prstGeom>
          <a:solidFill>
            <a:srgbClr val="101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5440680" cy="73152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51560" y="2532888"/>
            <a:ext cx="4983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1. Mac, na kterém běží aplikace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898648"/>
            <a:ext cx="49834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F5B041"/>
                </a:solidFill>
                <a:latin typeface="Calibri"/>
              </a:rPr>
              <a:t>Hardware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172968"/>
            <a:ext cx="498348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Apple Silicon — M1, M2, M3 nebo M4   (Intel Mac není podporován)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Min. 16 GB RAM  ·  doporučeno 32 GB+ pro větší modely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~ 5–50 GB volného místa pro modely a cache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4023360"/>
            <a:ext cx="49834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F5B041"/>
                </a:solidFill>
                <a:latin typeface="Calibri"/>
              </a:rPr>
              <a:t>Software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297680"/>
            <a:ext cx="4983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macOS 14 Sonoma nebo novější   ·   samotná aplikace SpiceHarvester (.app)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37960" y="2331720"/>
            <a:ext cx="5440680" cy="2423160"/>
          </a:xfrm>
          <a:prstGeom prst="rect">
            <a:avLst/>
          </a:prstGeom>
          <a:solidFill>
            <a:srgbClr val="101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537960" y="2331720"/>
            <a:ext cx="5440680" cy="73152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766560" y="2532888"/>
            <a:ext cx="4983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2. LLM provider (kde běží model)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2898648"/>
            <a:ext cx="49834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C8D4E6"/>
                </a:solidFill>
                <a:latin typeface="Calibri"/>
              </a:rPr>
              <a:t>Stačí libovolný OpenAI-kompatibilní server</a:t>
            </a:r>
          </a:p>
        </p:txBody>
      </p:sp>
      <p:sp>
        <p:nvSpPr>
          <p:cNvPr id="17" name="Oval 16"/>
          <p:cNvSpPr/>
          <p:nvPr/>
        </p:nvSpPr>
        <p:spPr>
          <a:xfrm>
            <a:off x="6839712" y="3346704"/>
            <a:ext cx="128016" cy="128016"/>
          </a:xfrm>
          <a:prstGeom prst="ellipse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086600" y="329184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LM Studio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3438144"/>
            <a:ext cx="47091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C8D4E6"/>
                </a:solidFill>
                <a:latin typeface="Calibri"/>
              </a:rPr>
              <a:t>GUI aplikace, doporučeno pro start. Auto-detekce kontextu, modely se stahují jedním klikem.</a:t>
            </a:r>
          </a:p>
        </p:txBody>
      </p:sp>
      <p:sp>
        <p:nvSpPr>
          <p:cNvPr id="20" name="Oval 19"/>
          <p:cNvSpPr/>
          <p:nvPr/>
        </p:nvSpPr>
        <p:spPr>
          <a:xfrm>
            <a:off x="6839712" y="3712464"/>
            <a:ext cx="128016" cy="128016"/>
          </a:xfrm>
          <a:prstGeom prst="ellipse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086600" y="365760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MLX server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3803904"/>
            <a:ext cx="47091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C8D4E6"/>
                </a:solidFill>
                <a:latin typeface="Calibri"/>
              </a:rPr>
              <a:t>CLI (Apple MLX framework). Nejrychlejší inference na Apple Silicon.</a:t>
            </a:r>
          </a:p>
        </p:txBody>
      </p:sp>
      <p:sp>
        <p:nvSpPr>
          <p:cNvPr id="23" name="Oval 22"/>
          <p:cNvSpPr/>
          <p:nvPr/>
        </p:nvSpPr>
        <p:spPr>
          <a:xfrm>
            <a:off x="6839712" y="4078224"/>
            <a:ext cx="128016" cy="128016"/>
          </a:xfrm>
          <a:prstGeom prst="ellipse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086600" y="402336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Ollama  (s OpenAI-compat shim)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4169664"/>
            <a:ext cx="47091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C8D4E6"/>
                </a:solidFill>
                <a:latin typeface="Calibri"/>
              </a:rPr>
              <a:t>Populární CLI. Funguje přes OpenAI-kompatibilní endpoint.</a:t>
            </a:r>
          </a:p>
        </p:txBody>
      </p:sp>
      <p:sp>
        <p:nvSpPr>
          <p:cNvPr id="26" name="Oval 25"/>
          <p:cNvSpPr/>
          <p:nvPr/>
        </p:nvSpPr>
        <p:spPr>
          <a:xfrm>
            <a:off x="6839712" y="4443984"/>
            <a:ext cx="128016" cy="128016"/>
          </a:xfrm>
          <a:prstGeom prst="ellipse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086600" y="438912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Jakýkoli další server s OpenAI API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4535424"/>
            <a:ext cx="47091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C8D4E6"/>
                </a:solidFill>
                <a:latin typeface="Calibri"/>
              </a:rPr>
              <a:t>vLLM, llama.cpp server, LocalAI a další — endpoint /v1/chat/completions.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4983480"/>
            <a:ext cx="11155680" cy="1280160"/>
          </a:xfrm>
          <a:prstGeom prst="rect">
            <a:avLst/>
          </a:prstGeom>
          <a:solidFill>
            <a:srgbClr val="101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22960" y="4983480"/>
            <a:ext cx="109728" cy="1280160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143000" y="5148072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5B041"/>
                </a:solidFill>
                <a:latin typeface="Calibri"/>
              </a:rPr>
              <a:t>Pro velké modely:  model na jiném stroji v lokální síti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5486400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C8D4E6"/>
                </a:solidFill>
                <a:latin typeface="Calibri"/>
              </a:rPr>
              <a:t>V Předvolbách změníte adresu serveru z localhost na IP stroje v LAN (např. http://192.168.1.50:1234/v1).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5852160"/>
            <a:ext cx="164592" cy="320040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417320" y="58521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Výkonnější Mac (Mac Studio M2/M3 Ultra) — větší RAM = větší modely (70B+).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46520" y="5852160"/>
            <a:ext cx="164592" cy="320040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720840" y="58521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NVIDIA DGX Spark (GB10) — desktop AI workstation pro modely 100 B+ parametrů.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4465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1">
                <a:solidFill>
                  <a:srgbClr val="B8C8E0"/>
                </a:solidFill>
                <a:latin typeface="Calibri"/>
              </a:rPr>
              <a:t>Aplikace komunikuje pouze HTTP(S) na zvolenou adresu — žádný cloud, žádné API klíče, data zůstávají v LAN.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B8C8E0"/>
                </a:solidFill>
                <a:latin typeface="Calibri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46304"/>
            <a:ext cx="164592" cy="6711696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21295C"/>
                </a:solidFill>
                <a:latin typeface="Calibri"/>
              </a:rPr>
              <a:t>Náhled hlavního okna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1C7293"/>
                </a:solidFill>
                <a:latin typeface="Calibri"/>
              </a:rPr>
              <a:t>Dvousloupcový HSplitView · konfigurace vlevo, runtime vpravo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C6B82"/>
                </a:solidFill>
                <a:latin typeface="Calibri"/>
              </a:rPr>
              <a:t>5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SpiceHarvester · Lokální dávkové vytěžování PDF přes LLM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417320"/>
            <a:ext cx="10607040" cy="4572000"/>
          </a:xfrm>
          <a:prstGeom prst="rect">
            <a:avLst/>
          </a:prstGeom>
          <a:solidFill>
            <a:srgbClr val="ECF0F4"/>
          </a:solidFill>
          <a:ln w="9525">
            <a:solidFill>
              <a:srgbClr val="C4C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77240" y="1417320"/>
            <a:ext cx="10607040" cy="384048"/>
          </a:xfrm>
          <a:prstGeom prst="rect">
            <a:avLst/>
          </a:prstGeom>
          <a:solidFill>
            <a:srgbClr val="DD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905256" y="1536192"/>
            <a:ext cx="146304" cy="146304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161288" y="1536192"/>
            <a:ext cx="146304" cy="146304"/>
          </a:xfrm>
          <a:prstGeom prst="ellipse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417320" y="1536192"/>
            <a:ext cx="146304" cy="146304"/>
          </a:xfrm>
          <a:prstGeom prst="ellipse">
            <a:avLst/>
          </a:prstGeom>
          <a:solidFill>
            <a:srgbClr val="88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874520" y="1481328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SpiceHarvester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287000" y="1481328"/>
            <a:ext cx="73152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287000" y="1481328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i="0">
                <a:solidFill>
                  <a:srgbClr val="21295C"/>
                </a:solidFill>
                <a:latin typeface="Calibri"/>
              </a:rPr>
              <a:t>Help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81160" y="1481328"/>
            <a:ext cx="9144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281160" y="1481328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i="0">
                <a:solidFill>
                  <a:srgbClr val="21295C"/>
                </a:solidFill>
                <a:latin typeface="Calibri"/>
              </a:rPr>
              <a:t>Output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83880" y="1481328"/>
            <a:ext cx="1005840" cy="256032"/>
          </a:xfrm>
          <a:prstGeom prst="rect">
            <a:avLst/>
          </a:prstGeom>
          <a:solidFill>
            <a:srgbClr val="065A82"/>
          </a:solidFill>
          <a:ln w="63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183880" y="1481328"/>
            <a:ext cx="10058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Spustit</a:t>
            </a:r>
          </a:p>
        </p:txBody>
      </p:sp>
      <p:sp>
        <p:nvSpPr>
          <p:cNvPr id="20" name="Oval 19"/>
          <p:cNvSpPr/>
          <p:nvPr/>
        </p:nvSpPr>
        <p:spPr>
          <a:xfrm>
            <a:off x="7045452" y="1549908"/>
            <a:ext cx="118872" cy="118872"/>
          </a:xfrm>
          <a:prstGeom prst="ellipse">
            <a:avLst/>
          </a:prstGeom>
          <a:solidFill>
            <a:srgbClr val="88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223760" y="1481328"/>
            <a:ext cx="109728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>
                <a:solidFill>
                  <a:srgbClr val="21295C"/>
                </a:solidFill>
                <a:latin typeface="Calibri"/>
              </a:rPr>
              <a:t>Připraveno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1874520"/>
            <a:ext cx="502920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D8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97280" y="196596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Složky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2258568"/>
            <a:ext cx="4663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Vstupní:  ~/Documents/PDFs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2514600"/>
            <a:ext cx="4663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Výstupní:  ~/Documents/Vystupy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2770632"/>
            <a:ext cx="4663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Cache:  ~/Library/Caches/SH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4400" y="3044952"/>
            <a:ext cx="502920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D8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97280" y="3136392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Server a model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3429000"/>
            <a:ext cx="4663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Server:  http://localhost:1234/v1   [Ověřit]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3685032"/>
            <a:ext cx="4663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Inference:  qwen2.5-14b-instruct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" y="3941064"/>
            <a:ext cx="4663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Režim:  [ FAST ]  [ SEARCH ]  [ CONSOLIDATE ]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4400" y="4443984"/>
            <a:ext cx="5029200" cy="1115568"/>
          </a:xfrm>
          <a:prstGeom prst="rect">
            <a:avLst/>
          </a:prstGeom>
          <a:solidFill>
            <a:srgbClr val="FFFFFF"/>
          </a:solidFill>
          <a:ln w="6350">
            <a:solidFill>
              <a:srgbClr val="D8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097280" y="4535424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Prompt   [ Načíst .md ]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" y="4828032"/>
            <a:ext cx="4663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Vrať pro každý PDF JSON s poli: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" y="5084064"/>
            <a:ext cx="4663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  · patient_name, birth_date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" y="5340096"/>
            <a:ext cx="4663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  · diagnoses (ICD-10), medication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26480" y="1874520"/>
            <a:ext cx="5120640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D8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309360" y="196596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Průběh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2258568"/>
            <a:ext cx="4754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Fáze: Extrakce  ·  Dokumenty: 47 / 200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2514600"/>
            <a:ext cx="4754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Aktuální: zprava_2024_03_12.pdf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9360" y="2770632"/>
            <a:ext cx="4754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Cache: 38× hit  ·  9× miss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09360" y="3026664"/>
            <a:ext cx="4754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ETA: ~ 4 min 20 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3282696"/>
            <a:ext cx="4754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Avg: 1 240 ms / dokument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55080" y="3657600"/>
            <a:ext cx="4663440" cy="164592"/>
          </a:xfrm>
          <a:prstGeom prst="rect">
            <a:avLst/>
          </a:prstGeom>
          <a:solidFill>
            <a:srgbClr val="E6E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6355080" y="3657600"/>
            <a:ext cx="1095908" cy="16459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6126480" y="4160520"/>
            <a:ext cx="5120640" cy="1444752"/>
          </a:xfrm>
          <a:prstGeom prst="rect">
            <a:avLst/>
          </a:prstGeom>
          <a:solidFill>
            <a:srgbClr val="FFFFFF"/>
          </a:solidFill>
          <a:ln w="6350">
            <a:solidFill>
              <a:srgbClr val="D8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309360" y="425196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Log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09360" y="4526280"/>
            <a:ext cx="47548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B223A"/>
                </a:solidFill>
                <a:latin typeface="Menlo"/>
              </a:rPr>
              <a:t>12:04:18  scan  ·  nalezeno 200 PDF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09360" y="4727448"/>
            <a:ext cx="47548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B223A"/>
                </a:solidFill>
                <a:latin typeface="Menlo"/>
              </a:rPr>
              <a:t>12:04:19  hash  ·  47 cache-hit, 153 nových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0" y="4928616"/>
            <a:ext cx="47548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B223A"/>
                </a:solidFill>
                <a:latin typeface="Menlo"/>
              </a:rPr>
              <a:t>12:04:25  extract  ·  zprava_034.pdf  ·  cache-miss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129784"/>
            <a:ext cx="47548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B223A"/>
                </a:solidFill>
                <a:latin typeface="Menlo"/>
              </a:rPr>
              <a:t>12:04:27  extract  ·  zprava_034.pdf  ·  ✓ 1 180 ms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0" y="5330952"/>
            <a:ext cx="47548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B223A"/>
                </a:solidFill>
                <a:latin typeface="Menlo"/>
              </a:rPr>
              <a:t>12:04:28  extract  ·  zprava_035.pdf  ·  cache-hit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77240" y="5696712"/>
            <a:ext cx="10607040" cy="292608"/>
          </a:xfrm>
          <a:prstGeom prst="rect">
            <a:avLst/>
          </a:prstGeom>
          <a:solidFill>
            <a:srgbClr val="DD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1005840" y="5696712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21295C"/>
                </a:solidFill>
                <a:latin typeface="Calibri"/>
              </a:rPr>
              <a:t>Server dostupný · modely: 12 · kontext 32k tok.  ·  Zpracovávám…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98280" y="5696712"/>
            <a:ext cx="210312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00" b="0" i="0">
                <a:solidFill>
                  <a:srgbClr val="5C6B82"/>
                </a:solidFill>
                <a:latin typeface="Calibri"/>
              </a:rPr>
              <a:t>47 / 200  ·  cache 38×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7240" y="6126480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1">
                <a:solidFill>
                  <a:srgbClr val="5C6B82"/>
                </a:solidFill>
                <a:latin typeface="Calibri"/>
              </a:rPr>
              <a:t>Schematický náhled — skutečné UI používá .regularMaterial glass cards a nativní macOS toolbar.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46304"/>
            <a:ext cx="164592" cy="6711696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21295C"/>
                </a:solidFill>
                <a:latin typeface="Calibri"/>
              </a:rPr>
              <a:t>Use cases — pro koho je to užitečné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1C7293"/>
                </a:solidFill>
                <a:latin typeface="Calibri"/>
              </a:rPr>
              <a:t>Schéma výstupu definuje uživatelský prompt, doménově univerzální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C6B82"/>
                </a:solidFill>
                <a:latin typeface="Calibri"/>
              </a:rPr>
              <a:t>6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SpiceHarvester · Lokální dávkové vytěžování PDF přes LLM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508760"/>
            <a:ext cx="370332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2920" y="1508760"/>
            <a:ext cx="3703320" cy="64008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600200"/>
            <a:ext cx="3246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Zdravotnictví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892808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1">
                <a:solidFill>
                  <a:srgbClr val="E6EEF6"/>
                </a:solidFill>
                <a:latin typeface="Calibri"/>
              </a:rPr>
              <a:t>Ambulantní, propouštěcí a překladové zprávy</a:t>
            </a:r>
          </a:p>
        </p:txBody>
      </p:sp>
      <p:sp>
        <p:nvSpPr>
          <p:cNvPr id="12" name="Oval 11"/>
          <p:cNvSpPr/>
          <p:nvPr/>
        </p:nvSpPr>
        <p:spPr>
          <a:xfrm>
            <a:off x="768096" y="2350008"/>
            <a:ext cx="109728" cy="10972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228600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Strukturace pacientských dat</a:t>
            </a:r>
          </a:p>
        </p:txBody>
      </p:sp>
      <p:sp>
        <p:nvSpPr>
          <p:cNvPr id="14" name="Oval 13"/>
          <p:cNvSpPr/>
          <p:nvPr/>
        </p:nvSpPr>
        <p:spPr>
          <a:xfrm>
            <a:off x="768096" y="2715768"/>
            <a:ext cx="109728" cy="10972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265176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Diagnózy, medikace, lab. hodnoty</a:t>
            </a:r>
          </a:p>
        </p:txBody>
      </p:sp>
      <p:sp>
        <p:nvSpPr>
          <p:cNvPr id="16" name="Oval 15"/>
          <p:cNvSpPr/>
          <p:nvPr/>
        </p:nvSpPr>
        <p:spPr>
          <a:xfrm>
            <a:off x="768096" y="3081528"/>
            <a:ext cx="109728" cy="10972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05840" y="301752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Výpis hospitalizací do registru</a:t>
            </a:r>
          </a:p>
        </p:txBody>
      </p:sp>
      <p:sp>
        <p:nvSpPr>
          <p:cNvPr id="18" name="Oval 17"/>
          <p:cNvSpPr/>
          <p:nvPr/>
        </p:nvSpPr>
        <p:spPr>
          <a:xfrm>
            <a:off x="768096" y="3447288"/>
            <a:ext cx="109728" cy="10972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338328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Dedup pacientů přes CONSOLIDATE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70832" y="1508760"/>
            <a:ext cx="370332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370832" y="1508760"/>
            <a:ext cx="3703320" cy="64008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99432" y="1600200"/>
            <a:ext cx="3246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Právo a soudnictví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99432" y="1892808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1">
                <a:solidFill>
                  <a:srgbClr val="E6EEF6"/>
                </a:solidFill>
                <a:latin typeface="Calibri"/>
              </a:rPr>
              <a:t>Smlouvy, posudky, soudní spisy</a:t>
            </a:r>
          </a:p>
        </p:txBody>
      </p:sp>
      <p:sp>
        <p:nvSpPr>
          <p:cNvPr id="24" name="Oval 23"/>
          <p:cNvSpPr/>
          <p:nvPr/>
        </p:nvSpPr>
        <p:spPr>
          <a:xfrm>
            <a:off x="4636008" y="2350008"/>
            <a:ext cx="109728" cy="109728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873752" y="228600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Extrakce stran, dat, částek</a:t>
            </a:r>
          </a:p>
        </p:txBody>
      </p:sp>
      <p:sp>
        <p:nvSpPr>
          <p:cNvPr id="26" name="Oval 25"/>
          <p:cNvSpPr/>
          <p:nvPr/>
        </p:nvSpPr>
        <p:spPr>
          <a:xfrm>
            <a:off x="4636008" y="2715768"/>
            <a:ext cx="109728" cy="109728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873752" y="265176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Souhrn klauzulí napříč smlouvami</a:t>
            </a:r>
          </a:p>
        </p:txBody>
      </p:sp>
      <p:sp>
        <p:nvSpPr>
          <p:cNvPr id="28" name="Oval 27"/>
          <p:cNvSpPr/>
          <p:nvPr/>
        </p:nvSpPr>
        <p:spPr>
          <a:xfrm>
            <a:off x="4636008" y="3081528"/>
            <a:ext cx="109728" cy="109728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873752" y="301752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Katalogizace podkladů ke znal. posudku</a:t>
            </a:r>
          </a:p>
        </p:txBody>
      </p:sp>
      <p:sp>
        <p:nvSpPr>
          <p:cNvPr id="30" name="Oval 29"/>
          <p:cNvSpPr/>
          <p:nvPr/>
        </p:nvSpPr>
        <p:spPr>
          <a:xfrm>
            <a:off x="4636008" y="3447288"/>
            <a:ext cx="109728" cy="109728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873752" y="338328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Hledání anomálií ve verzích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38744" y="1508760"/>
            <a:ext cx="370332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8238744" y="1508760"/>
            <a:ext cx="3703320" cy="640080"/>
          </a:xfrm>
          <a:prstGeom prst="rect">
            <a:avLst/>
          </a:prstGeom>
          <a:solidFill>
            <a:srgbClr val="9C4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467344" y="1600200"/>
            <a:ext cx="3246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Účetnictví a finance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67344" y="1892808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1">
                <a:solidFill>
                  <a:srgbClr val="E6EEF6"/>
                </a:solidFill>
                <a:latin typeface="Calibri"/>
              </a:rPr>
              <a:t>Faktury, dodací listy, výpisy</a:t>
            </a:r>
          </a:p>
        </p:txBody>
      </p:sp>
      <p:sp>
        <p:nvSpPr>
          <p:cNvPr id="36" name="Oval 35"/>
          <p:cNvSpPr/>
          <p:nvPr/>
        </p:nvSpPr>
        <p:spPr>
          <a:xfrm>
            <a:off x="8503920" y="2350008"/>
            <a:ext cx="109728" cy="109728"/>
          </a:xfrm>
          <a:prstGeom prst="ellipse">
            <a:avLst/>
          </a:prstGeom>
          <a:solidFill>
            <a:srgbClr val="9C4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741664" y="228600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IČO, DIČ, čísla faktur, splatnosti</a:t>
            </a:r>
          </a:p>
        </p:txBody>
      </p:sp>
      <p:sp>
        <p:nvSpPr>
          <p:cNvPr id="38" name="Oval 37"/>
          <p:cNvSpPr/>
          <p:nvPr/>
        </p:nvSpPr>
        <p:spPr>
          <a:xfrm>
            <a:off x="8503920" y="2715768"/>
            <a:ext cx="109728" cy="109728"/>
          </a:xfrm>
          <a:prstGeom prst="ellipse">
            <a:avLst/>
          </a:prstGeom>
          <a:solidFill>
            <a:srgbClr val="9C4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741664" y="265176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Položkové rozpisy do CSV</a:t>
            </a:r>
          </a:p>
        </p:txBody>
      </p:sp>
      <p:sp>
        <p:nvSpPr>
          <p:cNvPr id="40" name="Oval 39"/>
          <p:cNvSpPr/>
          <p:nvPr/>
        </p:nvSpPr>
        <p:spPr>
          <a:xfrm>
            <a:off x="8503920" y="3081528"/>
            <a:ext cx="109728" cy="109728"/>
          </a:xfrm>
          <a:prstGeom prst="ellipse">
            <a:avLst/>
          </a:prstGeom>
          <a:solidFill>
            <a:srgbClr val="9C4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741664" y="301752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Reconciliace s účetním systémem</a:t>
            </a:r>
          </a:p>
        </p:txBody>
      </p:sp>
      <p:sp>
        <p:nvSpPr>
          <p:cNvPr id="42" name="Oval 41"/>
          <p:cNvSpPr/>
          <p:nvPr/>
        </p:nvSpPr>
        <p:spPr>
          <a:xfrm>
            <a:off x="8503920" y="3447288"/>
            <a:ext cx="109728" cy="109728"/>
          </a:xfrm>
          <a:prstGeom prst="ellipse">
            <a:avLst/>
          </a:prstGeom>
          <a:solidFill>
            <a:srgbClr val="9C4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741664" y="338328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Daňová kontrola archivních PDF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977640"/>
            <a:ext cx="370332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502920" y="3977640"/>
            <a:ext cx="3703320" cy="640080"/>
          </a:xfrm>
          <a:prstGeom prst="rect">
            <a:avLst/>
          </a:prstGeom>
          <a:solidFill>
            <a:srgbClr val="4A6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731520" y="4069080"/>
            <a:ext cx="3246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Veřejná správa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4361688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1">
                <a:solidFill>
                  <a:srgbClr val="E6EEF6"/>
                </a:solidFill>
                <a:latin typeface="Calibri"/>
              </a:rPr>
              <a:t>Zápisy, rozhodnutí, žádosti</a:t>
            </a:r>
          </a:p>
        </p:txBody>
      </p:sp>
      <p:sp>
        <p:nvSpPr>
          <p:cNvPr id="48" name="Oval 47"/>
          <p:cNvSpPr/>
          <p:nvPr/>
        </p:nvSpPr>
        <p:spPr>
          <a:xfrm>
            <a:off x="768096" y="4818888"/>
            <a:ext cx="109728" cy="109728"/>
          </a:xfrm>
          <a:prstGeom prst="ellipse">
            <a:avLst/>
          </a:prstGeom>
          <a:solidFill>
            <a:srgbClr val="4A6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1005840" y="475488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Strukturace rozhodnutí úřadů</a:t>
            </a:r>
          </a:p>
        </p:txBody>
      </p:sp>
      <p:sp>
        <p:nvSpPr>
          <p:cNvPr id="50" name="Oval 49"/>
          <p:cNvSpPr/>
          <p:nvPr/>
        </p:nvSpPr>
        <p:spPr>
          <a:xfrm>
            <a:off x="768096" y="5184648"/>
            <a:ext cx="109728" cy="109728"/>
          </a:xfrm>
          <a:prstGeom prst="ellipse">
            <a:avLst/>
          </a:prstGeom>
          <a:solidFill>
            <a:srgbClr val="4A6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1005840" y="512064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Archivace žádostí a rozhodnutí</a:t>
            </a:r>
          </a:p>
        </p:txBody>
      </p:sp>
      <p:sp>
        <p:nvSpPr>
          <p:cNvPr id="52" name="Oval 51"/>
          <p:cNvSpPr/>
          <p:nvPr/>
        </p:nvSpPr>
        <p:spPr>
          <a:xfrm>
            <a:off x="768096" y="5550408"/>
            <a:ext cx="109728" cy="109728"/>
          </a:xfrm>
          <a:prstGeom prst="ellipse">
            <a:avLst/>
          </a:prstGeom>
          <a:solidFill>
            <a:srgbClr val="4A6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1005840" y="548640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Audit dokumentových workflow</a:t>
            </a:r>
          </a:p>
        </p:txBody>
      </p:sp>
      <p:sp>
        <p:nvSpPr>
          <p:cNvPr id="54" name="Oval 53"/>
          <p:cNvSpPr/>
          <p:nvPr/>
        </p:nvSpPr>
        <p:spPr>
          <a:xfrm>
            <a:off x="768096" y="5916168"/>
            <a:ext cx="109728" cy="109728"/>
          </a:xfrm>
          <a:prstGeom prst="ellipse">
            <a:avLst/>
          </a:prstGeom>
          <a:solidFill>
            <a:srgbClr val="4A6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1005840" y="585216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Plnění GDPR (data lokálně)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70832" y="3977640"/>
            <a:ext cx="370332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4370832" y="3977640"/>
            <a:ext cx="3703320" cy="640080"/>
          </a:xfrm>
          <a:prstGeom prst="rect">
            <a:avLst/>
          </a:prstGeom>
          <a:solidFill>
            <a:srgbClr val="6E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4599432" y="4069080"/>
            <a:ext cx="3246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Technická dokumentace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99432" y="4361688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1">
                <a:solidFill>
                  <a:srgbClr val="E6EEF6"/>
                </a:solidFill>
                <a:latin typeface="Calibri"/>
              </a:rPr>
              <a:t>Manuály, normy, datasheety</a:t>
            </a:r>
          </a:p>
        </p:txBody>
      </p:sp>
      <p:sp>
        <p:nvSpPr>
          <p:cNvPr id="60" name="Oval 59"/>
          <p:cNvSpPr/>
          <p:nvPr/>
        </p:nvSpPr>
        <p:spPr>
          <a:xfrm>
            <a:off x="4636008" y="4818888"/>
            <a:ext cx="109728" cy="109728"/>
          </a:xfrm>
          <a:prstGeom prst="ellipse">
            <a:avLst/>
          </a:prstGeom>
          <a:solidFill>
            <a:srgbClr val="6E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4873752" y="475488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Extrakce parametrů a specifikací</a:t>
            </a:r>
          </a:p>
        </p:txBody>
      </p:sp>
      <p:sp>
        <p:nvSpPr>
          <p:cNvPr id="62" name="Oval 61"/>
          <p:cNvSpPr/>
          <p:nvPr/>
        </p:nvSpPr>
        <p:spPr>
          <a:xfrm>
            <a:off x="4636008" y="5184648"/>
            <a:ext cx="109728" cy="109728"/>
          </a:xfrm>
          <a:prstGeom prst="ellipse">
            <a:avLst/>
          </a:prstGeom>
          <a:solidFill>
            <a:srgbClr val="6E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4873752" y="512064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Souhrn norem napříč dokumenty</a:t>
            </a:r>
          </a:p>
        </p:txBody>
      </p:sp>
      <p:sp>
        <p:nvSpPr>
          <p:cNvPr id="64" name="Oval 63"/>
          <p:cNvSpPr/>
          <p:nvPr/>
        </p:nvSpPr>
        <p:spPr>
          <a:xfrm>
            <a:off x="4636008" y="5550408"/>
            <a:ext cx="109728" cy="109728"/>
          </a:xfrm>
          <a:prstGeom prst="ellipse">
            <a:avLst/>
          </a:prstGeom>
          <a:solidFill>
            <a:srgbClr val="6E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4873752" y="548640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Hledání referencí a citací</a:t>
            </a:r>
          </a:p>
        </p:txBody>
      </p:sp>
      <p:sp>
        <p:nvSpPr>
          <p:cNvPr id="66" name="Oval 65"/>
          <p:cNvSpPr/>
          <p:nvPr/>
        </p:nvSpPr>
        <p:spPr>
          <a:xfrm>
            <a:off x="4636008" y="5916168"/>
            <a:ext cx="109728" cy="109728"/>
          </a:xfrm>
          <a:prstGeom prst="ellipse">
            <a:avLst/>
          </a:prstGeom>
          <a:solidFill>
            <a:srgbClr val="6E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4873752" y="585216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Strukturace certifikátů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238744" y="3977640"/>
            <a:ext cx="370332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/>
          <p:cNvSpPr/>
          <p:nvPr/>
        </p:nvSpPr>
        <p:spPr>
          <a:xfrm>
            <a:off x="8238744" y="3977640"/>
            <a:ext cx="3703320" cy="640080"/>
          </a:xfrm>
          <a:prstGeom prst="rect">
            <a:avLst/>
          </a:prstGeom>
          <a:solidFill>
            <a:srgbClr val="1F4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8467344" y="4069080"/>
            <a:ext cx="3246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Personalistika a HR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467344" y="4361688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1">
                <a:solidFill>
                  <a:srgbClr val="E6EEF6"/>
                </a:solidFill>
                <a:latin typeface="Calibri"/>
              </a:rPr>
              <a:t>CV, pracovní smlouvy, hodnocení</a:t>
            </a:r>
          </a:p>
        </p:txBody>
      </p:sp>
      <p:sp>
        <p:nvSpPr>
          <p:cNvPr id="72" name="Oval 71"/>
          <p:cNvSpPr/>
          <p:nvPr/>
        </p:nvSpPr>
        <p:spPr>
          <a:xfrm>
            <a:off x="8503920" y="4818888"/>
            <a:ext cx="109728" cy="109728"/>
          </a:xfrm>
          <a:prstGeom prst="ellipse">
            <a:avLst/>
          </a:prstGeom>
          <a:solidFill>
            <a:srgbClr val="1F4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8741664" y="475488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Strukturace životopisů</a:t>
            </a:r>
          </a:p>
        </p:txBody>
      </p:sp>
      <p:sp>
        <p:nvSpPr>
          <p:cNvPr id="74" name="Oval 73"/>
          <p:cNvSpPr/>
          <p:nvPr/>
        </p:nvSpPr>
        <p:spPr>
          <a:xfrm>
            <a:off x="8503920" y="5184648"/>
            <a:ext cx="109728" cy="109728"/>
          </a:xfrm>
          <a:prstGeom prst="ellipse">
            <a:avLst/>
          </a:prstGeom>
          <a:solidFill>
            <a:srgbClr val="1F4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8741664" y="512064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Sumarizace zkušeností</a:t>
            </a:r>
          </a:p>
        </p:txBody>
      </p:sp>
      <p:sp>
        <p:nvSpPr>
          <p:cNvPr id="76" name="Oval 75"/>
          <p:cNvSpPr/>
          <p:nvPr/>
        </p:nvSpPr>
        <p:spPr>
          <a:xfrm>
            <a:off x="8503920" y="5550408"/>
            <a:ext cx="109728" cy="109728"/>
          </a:xfrm>
          <a:prstGeom prst="ellipse">
            <a:avLst/>
          </a:prstGeom>
          <a:solidFill>
            <a:srgbClr val="1F4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8741664" y="548640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Extrakce dovedností a vzdělání</a:t>
            </a:r>
          </a:p>
        </p:txBody>
      </p:sp>
      <p:sp>
        <p:nvSpPr>
          <p:cNvPr id="78" name="Oval 77"/>
          <p:cNvSpPr/>
          <p:nvPr/>
        </p:nvSpPr>
        <p:spPr>
          <a:xfrm>
            <a:off x="8503920" y="5916168"/>
            <a:ext cx="109728" cy="109728"/>
          </a:xfrm>
          <a:prstGeom prst="ellipse">
            <a:avLst/>
          </a:prstGeom>
          <a:solidFill>
            <a:srgbClr val="1F4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8741664" y="585216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Plně lokální zpracování os. údajů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46304"/>
            <a:ext cx="164592" cy="6711696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21295C"/>
                </a:solidFill>
                <a:latin typeface="Calibri"/>
              </a:rPr>
              <a:t>Konkrétní scénáře použití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1C7293"/>
                </a:solidFill>
                <a:latin typeface="Calibri"/>
              </a:rPr>
              <a:t>Co reálně vznikne za 5 minut s vlastním promptem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C6B82"/>
                </a:solidFill>
                <a:latin typeface="Calibri"/>
              </a:rPr>
              <a:t>7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SpiceHarvester · Lokální dávkové vytěžování PDF přes LLM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508760"/>
            <a:ext cx="5650992" cy="237744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53712" y="1691640"/>
            <a:ext cx="1417320" cy="36576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53712" y="1691640"/>
            <a:ext cx="14173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FAST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691640"/>
            <a:ext cx="3776472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rgbClr val="21295C"/>
                </a:solidFill>
                <a:latin typeface="Calibri"/>
              </a:rPr>
              <a:t>Strukturace 200 propouštěcích zpráv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194560"/>
            <a:ext cx="5193792" cy="7000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1520" y="2331720"/>
            <a:ext cx="5193792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00" b="1" i="0">
                <a:solidFill>
                  <a:srgbClr val="065A82"/>
                </a:solidFill>
                <a:latin typeface="Calibri"/>
              </a:rPr>
              <a:t>Postup: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2331720"/>
            <a:ext cx="4645152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00" b="0" i="0">
                <a:solidFill>
                  <a:srgbClr val="1B223A"/>
                </a:solidFill>
                <a:latin typeface="Calibri"/>
              </a:rPr>
              <a:t>Vstup: 200 PDF v složce. Prompt: extrahuj jméno, RČ, diagnózy (ICD-10), medikaci, datum hospitalizace.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108960"/>
            <a:ext cx="5193792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00" b="1" i="0">
                <a:solidFill>
                  <a:srgbClr val="F5B041"/>
                </a:solidFill>
                <a:latin typeface="Calibri"/>
              </a:rPr>
              <a:t>Výsledek: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08960"/>
            <a:ext cx="4553712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00" b="0" i="0">
                <a:solidFill>
                  <a:srgbClr val="1B223A"/>
                </a:solidFill>
                <a:latin typeface="Calibri"/>
              </a:rPr>
              <a:t>Výstup: results.csv pro Excel + raw_responses.json pro audit. Druhý běh = 100 % cache hit.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1072" y="1508760"/>
            <a:ext cx="5650992" cy="237744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10341864" y="1691640"/>
            <a:ext cx="1417320" cy="36576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341864" y="1691640"/>
            <a:ext cx="14173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CONSOLIDATE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2" y="1691640"/>
            <a:ext cx="3776472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rgbClr val="21295C"/>
                </a:solidFill>
                <a:latin typeface="Calibri"/>
              </a:rPr>
              <a:t>Souhrn 50 smluv napříč dodavateli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19672" y="2194560"/>
            <a:ext cx="5193792" cy="7000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19672" y="2331720"/>
            <a:ext cx="5193792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00" b="1" i="0">
                <a:solidFill>
                  <a:srgbClr val="065A82"/>
                </a:solidFill>
                <a:latin typeface="Calibri"/>
              </a:rPr>
              <a:t>Postup: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68312" y="2331720"/>
            <a:ext cx="4645152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00" b="0" i="0">
                <a:solidFill>
                  <a:srgbClr val="1B223A"/>
                </a:solidFill>
                <a:latin typeface="Calibri"/>
              </a:rPr>
              <a:t>Vstup: 50 různých smluv. Prompt: vytvoř souhrnnou tabulku stran, předmětu, ceny, doby plnění a sankčních klauzulí.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9672" y="3108960"/>
            <a:ext cx="5193792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00" b="1" i="0">
                <a:solidFill>
                  <a:srgbClr val="F5B041"/>
                </a:solidFill>
                <a:latin typeface="Calibri"/>
              </a:rPr>
              <a:t>Výsledek: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59752" y="3108960"/>
            <a:ext cx="4553712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00" b="0" i="0">
                <a:solidFill>
                  <a:srgbClr val="1B223A"/>
                </a:solidFill>
                <a:latin typeface="Calibri"/>
              </a:rPr>
              <a:t>Výstup: jeden konsolidovaný JSON. Při přetečení kontextu se automaticky spustí map-reduce — neztratíte žádný dokument.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023360"/>
            <a:ext cx="5650992" cy="237744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553712" y="4206240"/>
            <a:ext cx="1417320" cy="36576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553712" y="4206240"/>
            <a:ext cx="14173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SEARCH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206240"/>
            <a:ext cx="3776472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rgbClr val="21295C"/>
                </a:solidFill>
                <a:latin typeface="Calibri"/>
              </a:rPr>
              <a:t>Hledání pasáží v dlouhých posudcích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" y="4709160"/>
            <a:ext cx="5193792" cy="7000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31520" y="4846320"/>
            <a:ext cx="5193792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00" b="1" i="0">
                <a:solidFill>
                  <a:srgbClr val="065A82"/>
                </a:solidFill>
                <a:latin typeface="Calibri"/>
              </a:rPr>
              <a:t>Postup: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80160" y="4846320"/>
            <a:ext cx="4645152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00" b="0" i="0">
                <a:solidFill>
                  <a:srgbClr val="1B223A"/>
                </a:solidFill>
                <a:latin typeface="Calibri"/>
              </a:rPr>
              <a:t>Vstup: znalecké posudky o 200+ stranách. Prompt: najdi pasáže o vadách stavby a vyextrahuj odkazy na normy.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623560"/>
            <a:ext cx="5193792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00" b="1" i="0">
                <a:solidFill>
                  <a:srgbClr val="F5B041"/>
                </a:solidFill>
                <a:latin typeface="Calibri"/>
              </a:rPr>
              <a:t>Výsledek: 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71600" y="5623560"/>
            <a:ext cx="4553712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00" b="0" i="0">
                <a:solidFill>
                  <a:srgbClr val="1B223A"/>
                </a:solidFill>
                <a:latin typeface="Calibri"/>
              </a:rPr>
              <a:t>Embedding model najde top-N relevantních chunků, model odpoví jen nad nimi → rychlejší a přesnější než FAST.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91072" y="4023360"/>
            <a:ext cx="5650992" cy="237744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10341864" y="4206240"/>
            <a:ext cx="1417320" cy="36576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0341864" y="4206240"/>
            <a:ext cx="14173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FAST + markery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19672" y="4206240"/>
            <a:ext cx="3776472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rgbClr val="21295C"/>
                </a:solidFill>
                <a:latin typeface="Calibri"/>
              </a:rPr>
              <a:t>Faktury → CSV pro účetní systém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19672" y="4709160"/>
            <a:ext cx="5193792" cy="7000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519672" y="4846320"/>
            <a:ext cx="5193792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00" b="1" i="0">
                <a:solidFill>
                  <a:srgbClr val="065A82"/>
                </a:solidFill>
                <a:latin typeface="Calibri"/>
              </a:rPr>
              <a:t>Postup: 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68312" y="4846320"/>
            <a:ext cx="4645152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00" b="0" i="0">
                <a:solidFill>
                  <a:srgbClr val="1B223A"/>
                </a:solidFill>
                <a:latin typeface="Calibri"/>
              </a:rPr>
              <a:t>Vstup: 300 PDF faktur. Prompt s markery `=====CSV=====` vrátí přímo CSV řádky se všemi položkami.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19672" y="5623560"/>
            <a:ext cx="5193792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00" b="1" i="0">
                <a:solidFill>
                  <a:srgbClr val="F5B041"/>
                </a:solidFill>
                <a:latin typeface="Calibri"/>
              </a:rPr>
              <a:t>Výsledek: 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59752" y="5623560"/>
            <a:ext cx="4553712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00" b="0" i="0">
                <a:solidFill>
                  <a:srgbClr val="1B223A"/>
                </a:solidFill>
                <a:latin typeface="Calibri"/>
              </a:rPr>
              <a:t>Výstup: invoices_raw.csv s UTF-8 BOM, otevře se v Excelu bez ručních úprav. Import do účetního SW jedním kliknutím.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46304"/>
            <a:ext cx="164592" cy="6711696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21295C"/>
                </a:solidFill>
                <a:latin typeface="Calibri"/>
              </a:rPr>
              <a:t>Zdravotnictví — konkrétní scénáře z praxe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1C7293"/>
                </a:solidFill>
                <a:latin typeface="Calibri"/>
              </a:rPr>
              <a:t>Lokální zpracování = pacientská data nikdy neopustí počítač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C6B82"/>
                </a:solidFill>
                <a:latin typeface="Calibri"/>
              </a:rPr>
              <a:t>8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SpiceHarvester · Lokální dávkové vytěžování PDF přes LLM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11155680" cy="278892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2920" y="1371600"/>
            <a:ext cx="164592" cy="27889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77240" y="1554480"/>
            <a:ext cx="2011680" cy="329184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1554480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1295C"/>
                </a:solidFill>
                <a:latin typeface="Calibri"/>
              </a:rPr>
              <a:t>VLAJKOVÝ SCÉNÁŘ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1965960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21295C"/>
                </a:solidFill>
                <a:latin typeface="Calibri"/>
              </a:rPr>
              <a:t>Příprava datasetu pro vědeckou práci s anonymizací / pseudonymizací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514600"/>
            <a:ext cx="5257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65A82"/>
                </a:solidFill>
                <a:latin typeface="Calibri"/>
              </a:rPr>
              <a:t>Co se stane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807208"/>
            <a:ext cx="5257800" cy="12161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00" b="0" i="0">
                <a:solidFill>
                  <a:srgbClr val="1B223A"/>
                </a:solidFill>
                <a:latin typeface="Calibri"/>
              </a:rPr>
              <a:t>Vstup: ambulantní a propouštěcí zprávy stovek pacientů.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00" b="0" i="0">
                <a:solidFill>
                  <a:srgbClr val="1B223A"/>
                </a:solidFill>
                <a:latin typeface="Calibri"/>
              </a:rPr>
              <a:t>Prompt: extrahuj diagnózy (ICD-10), lab. hodnoty, datumy, medikaci — a místo jména/RČ vrať pseudo-ID tvaru P-{hash(rodné_číslo)[:8]}.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00" b="0" i="0">
                <a:solidFill>
                  <a:srgbClr val="1B223A"/>
                </a:solidFill>
                <a:latin typeface="Calibri"/>
              </a:rPr>
              <a:t>Druhá fáze: CONSOLIDATE napříč všemi pacienty pro kontrolu duplikátů přes pseudo-ID.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514600"/>
            <a:ext cx="5257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5B041"/>
                </a:solidFill>
                <a:latin typeface="Calibri"/>
              </a:rPr>
              <a:t>Výstup pro výzkum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807208"/>
            <a:ext cx="5257800" cy="12161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00" b="0" i="0">
                <a:solidFill>
                  <a:srgbClr val="1B223A"/>
                </a:solidFill>
                <a:latin typeface="Calibri"/>
              </a:rPr>
              <a:t>dataset.csv s pseudo-ID, ICD-10, hodnotami a datumy — přímo otevřitelný v R / Pythonu.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00" b="0" i="0">
                <a:solidFill>
                  <a:srgbClr val="1B223A"/>
                </a:solidFill>
                <a:latin typeface="Calibri"/>
              </a:rPr>
              <a:t>raw_responses.json pro audit etické komise — všechny odpovědi modelu k dohledání.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00" b="0" i="0">
                <a:solidFill>
                  <a:srgbClr val="1B223A"/>
                </a:solidFill>
                <a:latin typeface="Calibri"/>
              </a:rPr>
              <a:t>Originální PDF + mapování pseudo-ID ↔ pacient zůstávají POUZE na lokálním Macu (nikdy v cloudu).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297680"/>
            <a:ext cx="362712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02920" y="4297680"/>
            <a:ext cx="3627120" cy="731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685800" y="4526280"/>
            <a:ext cx="457200" cy="45720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" y="4572000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4480560"/>
            <a:ext cx="27127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>
                <a:solidFill>
                  <a:srgbClr val="21295C"/>
                </a:solidFill>
                <a:latin typeface="Calibri"/>
              </a:rPr>
              <a:t>Vytěžení laboratorních výsledků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166360"/>
            <a:ext cx="316992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000" b="0" i="0">
                <a:solidFill>
                  <a:srgbClr val="5C6B82"/>
                </a:solidFill>
                <a:latin typeface="Calibri"/>
              </a:rPr>
              <a:t>Stovky lab nálezů z různých laboratoří v jednom CSV: parametr, hodnota, jednotka, referenční mez, datum odběru. Sjednocené zápisy umožní longitudinální analýzu pacienta v čase.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67200" y="4297680"/>
            <a:ext cx="362712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267200" y="4297680"/>
            <a:ext cx="3627120" cy="731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4450080" y="4526280"/>
            <a:ext cx="457200" cy="45720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450080" y="4572000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44440" y="4480560"/>
            <a:ext cx="27127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>
                <a:solidFill>
                  <a:srgbClr val="21295C"/>
                </a:solidFill>
                <a:latin typeface="Calibri"/>
              </a:rPr>
              <a:t>Extrakce medikace a interakcí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95800" y="5166360"/>
            <a:ext cx="316992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000" b="0" i="0">
                <a:solidFill>
                  <a:srgbClr val="5C6B82"/>
                </a:solidFill>
                <a:latin typeface="Calibri"/>
              </a:rPr>
              <a:t>Z propouštěcích zpráv vytěžit aktuální medikaci včetně dávkování. Druhý průchod (CONSOLIDATE) napříč pacienty najde kohorty s rizikovou kombinací léků pro klinický audit.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31480" y="4297680"/>
            <a:ext cx="362712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031480" y="4297680"/>
            <a:ext cx="3627120" cy="731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8214360" y="4526280"/>
            <a:ext cx="457200" cy="45720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214360" y="4572000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08720" y="4480560"/>
            <a:ext cx="27127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>
                <a:solidFill>
                  <a:srgbClr val="21295C"/>
                </a:solidFill>
                <a:latin typeface="Calibri"/>
              </a:rPr>
              <a:t>Předtřídění pro přijímací ambulanci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60080" y="5166360"/>
            <a:ext cx="316992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000" b="0" i="0">
                <a:solidFill>
                  <a:srgbClr val="5C6B82"/>
                </a:solidFill>
                <a:latin typeface="Calibri"/>
              </a:rPr>
              <a:t>Externí dokumentace nového pacienta projde lokálním modelem dřív, než se otevře v EHR — lékař dostane strukturovaný souhrn diagnóz, alergií a chronické medikace na jeden klik.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46304"/>
            <a:ext cx="164592" cy="6711696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21295C"/>
                </a:solidFill>
                <a:latin typeface="Calibri"/>
              </a:rPr>
              <a:t>Proč SpiceHarvester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1C7293"/>
                </a:solidFill>
                <a:latin typeface="Calibri"/>
              </a:rPr>
              <a:t>Co dostanete navíc oproti cloudovým řešením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C6B82"/>
                </a:solidFill>
                <a:latin typeface="Calibri"/>
              </a:rPr>
              <a:t>9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SpiceHarvester · Lokální dávkové vytěžování PDF přes LLM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508760"/>
            <a:ext cx="370332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1645920"/>
            <a:ext cx="914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200" b="1" i="0">
                <a:solidFill>
                  <a:srgbClr val="106E55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423160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21295C"/>
                </a:solidFill>
                <a:latin typeface="Calibri"/>
              </a:rPr>
              <a:t>Soukromí a compliance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926080"/>
            <a:ext cx="457200" cy="20000"/>
          </a:xfrm>
          <a:prstGeom prst="rect">
            <a:avLst/>
          </a:prstGeom>
          <a:solidFill>
            <a:srgbClr val="106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3063240"/>
            <a:ext cx="32461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B223A"/>
                </a:solidFill>
                <a:latin typeface="Calibri"/>
              </a:rPr>
              <a:t>Data nikdy neopouští počítač. Vhodné pro zdravotnictví, advokátní kanceláře, veřejnou správu, GDPR-citlivé workflow.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70832" y="1508760"/>
            <a:ext cx="370332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99432" y="1645920"/>
            <a:ext cx="914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200" b="1" i="0">
                <a:solidFill>
                  <a:srgbClr val="9C4A1B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9432" y="2423160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21295C"/>
                </a:solidFill>
                <a:latin typeface="Calibri"/>
              </a:rPr>
              <a:t>Nulové provozní náklady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99432" y="2926080"/>
            <a:ext cx="457200" cy="20000"/>
          </a:xfrm>
          <a:prstGeom prst="rect">
            <a:avLst/>
          </a:prstGeom>
          <a:solidFill>
            <a:srgbClr val="9C4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99432" y="3063240"/>
            <a:ext cx="32461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B223A"/>
                </a:solidFill>
                <a:latin typeface="Calibri"/>
              </a:rPr>
              <a:t>Žádné tokeny, žádný měsíční poplatek za API. Pouze hardware a elektřina. Otevřené modely zdarma.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38744" y="1508760"/>
            <a:ext cx="370332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467344" y="1645920"/>
            <a:ext cx="914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200" b="1" i="0">
                <a:solidFill>
                  <a:srgbClr val="065A82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67344" y="2423160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21295C"/>
                </a:solidFill>
                <a:latin typeface="Calibri"/>
              </a:rPr>
              <a:t>Plně auditovatelné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67344" y="2926080"/>
            <a:ext cx="457200" cy="200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467344" y="3063240"/>
            <a:ext cx="32461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B223A"/>
                </a:solidFill>
                <a:latin typeface="Calibri"/>
              </a:rPr>
              <a:t>Raw odpovědi modelu se vždy ukládají. Inference cache je transparentní JSON. Logy v lokálním čase, escapované hodnoty.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977640"/>
            <a:ext cx="370332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31520" y="4114800"/>
            <a:ext cx="914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200" b="1" i="0">
                <a:solidFill>
                  <a:srgbClr val="1C7293"/>
                </a:solidFill>
                <a:latin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892040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21295C"/>
                </a:solidFill>
                <a:latin typeface="Calibri"/>
              </a:rPr>
              <a:t>Rychlá iterace promptu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394960"/>
            <a:ext cx="457200" cy="200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31520" y="5532120"/>
            <a:ext cx="32461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B223A"/>
                </a:solidFill>
                <a:latin typeface="Calibri"/>
              </a:rPr>
              <a:t>Per-inference cache zaručí, že po změně promptu se znovu neprojíždí OCR ani PDF parsing. Vývojový cyklus v sekundách.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70832" y="3977640"/>
            <a:ext cx="370332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599432" y="4114800"/>
            <a:ext cx="914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200" b="1" i="0">
                <a:solidFill>
                  <a:srgbClr val="6E3A6B"/>
                </a:solidFill>
                <a:latin typeface="Calibri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99432" y="4892040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21295C"/>
                </a:solidFill>
                <a:latin typeface="Calibri"/>
              </a:rPr>
              <a:t>Žádný vendor lock-in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99432" y="5394960"/>
            <a:ext cx="457200" cy="20000"/>
          </a:xfrm>
          <a:prstGeom prst="rect">
            <a:avLst/>
          </a:prstGeom>
          <a:solidFill>
            <a:srgbClr val="6E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599432" y="5532120"/>
            <a:ext cx="32461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B223A"/>
                </a:solidFill>
                <a:latin typeface="Calibri"/>
              </a:rPr>
              <a:t>OpenAI-kompatibilní API: lze přepnout mezi LM Studio, MLX, v budoucnu vlastní backend. Promptu zůstávají stejné.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38744" y="3977640"/>
            <a:ext cx="370332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467344" y="4114800"/>
            <a:ext cx="914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200" b="1" i="0">
                <a:solidFill>
                  <a:srgbClr val="1F4F7A"/>
                </a:solidFill>
                <a:latin typeface="Calibri"/>
              </a:rPr>
              <a:t>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67344" y="4892040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21295C"/>
                </a:solidFill>
                <a:latin typeface="Calibri"/>
              </a:rPr>
              <a:t>Otevřená a univerzální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467344" y="5394960"/>
            <a:ext cx="457200" cy="20000"/>
          </a:xfrm>
          <a:prstGeom prst="rect">
            <a:avLst/>
          </a:prstGeom>
          <a:solidFill>
            <a:srgbClr val="1F4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467344" y="5532120"/>
            <a:ext cx="32461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B223A"/>
                </a:solidFill>
                <a:latin typeface="Calibri"/>
              </a:rPr>
              <a:t>Schéma výstupu řídí prompt — žádné natvrdo zadrátované pole. Stejná aplikace funguje na zdravotnictví i na fakturách.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46304"/>
            <a:ext cx="164592" cy="6711696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21295C"/>
                </a:solidFill>
                <a:latin typeface="Calibri"/>
              </a:rPr>
              <a:t>Vše stojí a padá s promptem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1C7293"/>
                </a:solidFill>
                <a:latin typeface="Calibri"/>
              </a:rPr>
              <a:t>Jedna věta nestačí — strukturovaný prompt je hlavní páka kvality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C6B82"/>
                </a:solidFill>
                <a:latin typeface="Calibri"/>
              </a:rPr>
              <a:t>10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SpiceHarvester · Lokální dávkové vytěžování PDF přes LLM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508760"/>
            <a:ext cx="5669280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2920" y="1508760"/>
            <a:ext cx="5669280" cy="411480"/>
          </a:xfrm>
          <a:prstGeom prst="rect">
            <a:avLst/>
          </a:prstGeom>
          <a:solidFill>
            <a:srgbClr val="C43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563624"/>
            <a:ext cx="52120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✗  Nestačí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57400"/>
            <a:ext cx="5212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1B223A"/>
                </a:solidFill>
                <a:latin typeface="Menlo"/>
              </a:rPr>
              <a:t>„Vytáhni z PDF důležité informace."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560320"/>
            <a:ext cx="52120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 i="0">
                <a:solidFill>
                  <a:srgbClr val="5C6B82"/>
                </a:solidFill>
                <a:latin typeface="Calibri"/>
              </a:rPr>
              <a:t>Model nemá schéma → každý PDF vrátí jiný tvar JSON.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 i="0">
                <a:solidFill>
                  <a:srgbClr val="5C6B82"/>
                </a:solidFill>
                <a:latin typeface="Calibri"/>
              </a:rPr>
              <a:t>Bez ICD-10 / formátů dat → nečitelná data pro Excel.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 i="0">
                <a:solidFill>
                  <a:srgbClr val="5C6B82"/>
                </a:solidFill>
                <a:latin typeface="Calibri"/>
              </a:rPr>
              <a:t>Bez příkladu → halucinace, neplatný JSON, repair fail.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508760"/>
            <a:ext cx="5669280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309360" y="1508760"/>
            <a:ext cx="5669280" cy="41148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37960" y="1563624"/>
            <a:ext cx="52120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✓  Strukturovaný prompt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057400"/>
            <a:ext cx="5212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065A82"/>
                </a:solidFill>
                <a:latin typeface="Calibri"/>
              </a:rPr>
              <a:t>Role + úkol + schéma + pravidla + příklad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560320"/>
            <a:ext cx="52120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 i="0">
                <a:solidFill>
                  <a:srgbClr val="5C6B82"/>
                </a:solidFill>
                <a:latin typeface="Calibri"/>
              </a:rPr>
              <a:t>Pevně daný JSON tvar → konzistentní export do CSV.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 i="0">
                <a:solidFill>
                  <a:srgbClr val="5C6B82"/>
                </a:solidFill>
                <a:latin typeface="Calibri"/>
              </a:rPr>
              <a:t>Jasné formáty (ISO datum, ICD-10) → dataset připravený k analýze.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 i="0">
                <a:solidFill>
                  <a:srgbClr val="5C6B82"/>
                </a:solidFill>
                <a:latin typeface="Calibri"/>
              </a:rPr>
              <a:t>Jeden ukázkový vzor → drasticky méně chyb a oprav.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840480"/>
            <a:ext cx="11155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21295C"/>
                </a:solidFill>
                <a:latin typeface="Calibri"/>
              </a:rPr>
              <a:t>Co musí prompt obsahovat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251960"/>
            <a:ext cx="1844040" cy="1325880"/>
          </a:xfrm>
          <a:prstGeom prst="rect">
            <a:avLst/>
          </a:prstGeom>
          <a:solidFill>
            <a:srgbClr val="ECF1F7"/>
          </a:solidFill>
          <a:ln w="63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594360" y="4343400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94360" y="4370832"/>
            <a:ext cx="3657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4663440"/>
            <a:ext cx="1661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21295C"/>
                </a:solidFill>
                <a:latin typeface="Calibri"/>
              </a:rPr>
              <a:t>ROLE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937760"/>
            <a:ext cx="15697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900" b="0" i="0">
                <a:solidFill>
                  <a:srgbClr val="5C6B82"/>
                </a:solidFill>
                <a:latin typeface="Calibri"/>
              </a:rPr>
              <a:t>Kým je model? („Jsi extraktor zdravotnických dat…")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56688" y="4251960"/>
            <a:ext cx="1844040" cy="1325880"/>
          </a:xfrm>
          <a:prstGeom prst="rect">
            <a:avLst/>
          </a:prstGeom>
          <a:solidFill>
            <a:srgbClr val="ECF1F7"/>
          </a:solidFill>
          <a:ln w="63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2548128" y="4343400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548128" y="4370832"/>
            <a:ext cx="3657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48128" y="4663440"/>
            <a:ext cx="1661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21295C"/>
                </a:solidFill>
                <a:latin typeface="Calibri"/>
              </a:rPr>
              <a:t>ÚKOL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93848" y="4937760"/>
            <a:ext cx="15697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900" b="0" i="0">
                <a:solidFill>
                  <a:srgbClr val="5C6B82"/>
                </a:solidFill>
                <a:latin typeface="Calibri"/>
              </a:rPr>
              <a:t>Co přesně dělá s každým dokumentem.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10456" y="4251960"/>
            <a:ext cx="1844040" cy="1325880"/>
          </a:xfrm>
          <a:prstGeom prst="rect">
            <a:avLst/>
          </a:prstGeom>
          <a:solidFill>
            <a:srgbClr val="ECF1F7"/>
          </a:solidFill>
          <a:ln w="63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4501896" y="4343400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501896" y="4370832"/>
            <a:ext cx="3657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01896" y="4663440"/>
            <a:ext cx="1661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21295C"/>
                </a:solidFill>
                <a:latin typeface="Calibri"/>
              </a:rPr>
              <a:t>SCHÉMA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47616" y="4937760"/>
            <a:ext cx="15697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900" b="0" i="0">
                <a:solidFill>
                  <a:srgbClr val="5C6B82"/>
                </a:solidFill>
                <a:latin typeface="Calibri"/>
              </a:rPr>
              <a:t>Přesný JSON tvar včetně typů a povinných polí.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64224" y="4251960"/>
            <a:ext cx="1844040" cy="1325880"/>
          </a:xfrm>
          <a:prstGeom prst="rect">
            <a:avLst/>
          </a:prstGeom>
          <a:solidFill>
            <a:srgbClr val="ECF1F7"/>
          </a:solidFill>
          <a:ln w="63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6455664" y="4343400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55664" y="4370832"/>
            <a:ext cx="3657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55664" y="4663440"/>
            <a:ext cx="1661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21295C"/>
                </a:solidFill>
                <a:latin typeface="Calibri"/>
              </a:rPr>
              <a:t>PRAVIDLA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01384" y="4937760"/>
            <a:ext cx="15697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900" b="0" i="0">
                <a:solidFill>
                  <a:srgbClr val="5C6B82"/>
                </a:solidFill>
                <a:latin typeface="Calibri"/>
              </a:rPr>
              <a:t>Co dělat když pole chybí, formáty datumu, jazyk výstupu.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17992" y="4251960"/>
            <a:ext cx="1844040" cy="1325880"/>
          </a:xfrm>
          <a:prstGeom prst="rect">
            <a:avLst/>
          </a:prstGeom>
          <a:solidFill>
            <a:srgbClr val="ECF1F7"/>
          </a:solidFill>
          <a:ln w="63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8409432" y="4343400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409432" y="4370832"/>
            <a:ext cx="3657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09432" y="4663440"/>
            <a:ext cx="1661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21295C"/>
                </a:solidFill>
                <a:latin typeface="Calibri"/>
              </a:rPr>
              <a:t>PŘÍKLAD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5152" y="4937760"/>
            <a:ext cx="15697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900" b="0" i="0">
                <a:solidFill>
                  <a:srgbClr val="5C6B82"/>
                </a:solidFill>
                <a:latin typeface="Calibri"/>
              </a:rPr>
              <a:t>Jeden ukázkový vstup→výstup pro disambiguaci.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271760" y="4251960"/>
            <a:ext cx="1844040" cy="1325880"/>
          </a:xfrm>
          <a:prstGeom prst="rect">
            <a:avLst/>
          </a:prstGeom>
          <a:solidFill>
            <a:srgbClr val="ECF1F7"/>
          </a:solidFill>
          <a:ln w="63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10363200" y="4343400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10363200" y="4370832"/>
            <a:ext cx="3657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63200" y="4663440"/>
            <a:ext cx="1661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21295C"/>
                </a:solidFill>
                <a:latin typeface="Calibri"/>
              </a:rPr>
              <a:t>CONSTRAINTS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08920" y="4937760"/>
            <a:ext cx="15697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900" b="0" i="0">
                <a:solidFill>
                  <a:srgbClr val="5C6B82"/>
                </a:solidFill>
                <a:latin typeface="Calibri"/>
              </a:rPr>
              <a:t>„Pouze JSON, bez markdownu, bez vysvětlení."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5897880"/>
            <a:ext cx="11155680" cy="457200"/>
          </a:xfrm>
          <a:prstGeom prst="rect">
            <a:avLst/>
          </a:prstGeom>
          <a:solidFill>
            <a:srgbClr val="FFF6E3"/>
          </a:solidFill>
          <a:ln w="9525">
            <a:solidFill>
              <a:srgbClr val="F5B0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85800" y="5897880"/>
            <a:ext cx="107899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1">
                <a:solidFill>
                  <a:srgbClr val="21295C"/>
                </a:solidFill>
                <a:latin typeface="Calibri"/>
              </a:rPr>
              <a:t>Tip:  prompty se ukládají jako .md soubory — verzujete je v Gitu, sdílíte v týmu, a s novým modelem často stačí stejný prompt pro lepší výsledky.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21295C"/>
                </a:solidFill>
                <a:latin typeface="Calibri"/>
              </a:rPr>
              <a:t>Tři režimy extrakce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1C7293"/>
                </a:solidFill>
                <a:latin typeface="Calibri"/>
              </a:rPr>
              <a:t>Volíte podle délky dokumentů a typu úlohy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C6B82"/>
                </a:solidFill>
                <a:latin typeface="Calibri"/>
              </a:rPr>
              <a:t>11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SpiceHarvester · Lokální dávkové vytěžování PDF přes LLM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554480"/>
            <a:ext cx="3703320" cy="4572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3703320" cy="100584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1719072"/>
            <a:ext cx="3154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FAST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94560"/>
            <a:ext cx="3154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Calibri"/>
              </a:rPr>
              <a:t>1 request / dokument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43200"/>
            <a:ext cx="31546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 i="0">
                <a:solidFill>
                  <a:srgbClr val="1B223A"/>
                </a:solidFill>
                <a:latin typeface="Calibri"/>
              </a:rPr>
              <a:t>Plný cleanedText jako kontext.</a:t>
            </a:r>
          </a:p>
        </p:txBody>
      </p:sp>
      <p:sp>
        <p:nvSpPr>
          <p:cNvPr id="13" name="Oval 12"/>
          <p:cNvSpPr/>
          <p:nvPr/>
        </p:nvSpPr>
        <p:spPr>
          <a:xfrm>
            <a:off x="845820" y="3954780"/>
            <a:ext cx="137160" cy="1371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143000" y="3886200"/>
            <a:ext cx="2880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B223A"/>
                </a:solidFill>
                <a:latin typeface="Calibri"/>
              </a:rPr>
              <a:t>Krátké až střední PDF</a:t>
            </a:r>
          </a:p>
        </p:txBody>
      </p:sp>
      <p:sp>
        <p:nvSpPr>
          <p:cNvPr id="15" name="Oval 14"/>
          <p:cNvSpPr/>
          <p:nvPr/>
        </p:nvSpPr>
        <p:spPr>
          <a:xfrm>
            <a:off x="845820" y="4366260"/>
            <a:ext cx="137160" cy="1371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143000" y="4297680"/>
            <a:ext cx="2880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B223A"/>
                </a:solidFill>
                <a:latin typeface="Calibri"/>
              </a:rPr>
              <a:t>Bez embedding modelu</a:t>
            </a:r>
          </a:p>
        </p:txBody>
      </p:sp>
      <p:sp>
        <p:nvSpPr>
          <p:cNvPr id="17" name="Oval 16"/>
          <p:cNvSpPr/>
          <p:nvPr/>
        </p:nvSpPr>
        <p:spPr>
          <a:xfrm>
            <a:off x="845820" y="4777740"/>
            <a:ext cx="137160" cy="1371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143000" y="4709160"/>
            <a:ext cx="2880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B223A"/>
                </a:solidFill>
                <a:latin typeface="Calibri"/>
              </a:rPr>
              <a:t>Nejnižší latence</a:t>
            </a:r>
          </a:p>
        </p:txBody>
      </p:sp>
      <p:sp>
        <p:nvSpPr>
          <p:cNvPr id="19" name="Oval 18"/>
          <p:cNvSpPr/>
          <p:nvPr/>
        </p:nvSpPr>
        <p:spPr>
          <a:xfrm>
            <a:off x="845820" y="5189220"/>
            <a:ext cx="137160" cy="1371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143000" y="5120640"/>
            <a:ext cx="2880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B223A"/>
                </a:solidFill>
                <a:latin typeface="Calibri"/>
              </a:rPr>
              <a:t>Default volba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120" y="1554480"/>
            <a:ext cx="3703320" cy="4572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389120" y="1554480"/>
            <a:ext cx="3703320" cy="100584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663440" y="1719072"/>
            <a:ext cx="3154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SEARCH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2194560"/>
            <a:ext cx="3154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Calibri"/>
              </a:rPr>
              <a:t>RAG s embeddingy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2743200"/>
            <a:ext cx="31546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 i="0">
                <a:solidFill>
                  <a:srgbClr val="1B223A"/>
                </a:solidFill>
                <a:latin typeface="Calibri"/>
              </a:rPr>
              <a:t>Chunking + paralelní embeddings + top-N (volitelný reranker přes /v1/rerank).</a:t>
            </a:r>
          </a:p>
        </p:txBody>
      </p:sp>
      <p:sp>
        <p:nvSpPr>
          <p:cNvPr id="26" name="Oval 25"/>
          <p:cNvSpPr/>
          <p:nvPr/>
        </p:nvSpPr>
        <p:spPr>
          <a:xfrm>
            <a:off x="4732020" y="3954780"/>
            <a:ext cx="137160" cy="13716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029200" y="3886200"/>
            <a:ext cx="2880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B223A"/>
                </a:solidFill>
                <a:latin typeface="Calibri"/>
              </a:rPr>
              <a:t>Dlouhé dokumenty</a:t>
            </a:r>
          </a:p>
        </p:txBody>
      </p:sp>
      <p:sp>
        <p:nvSpPr>
          <p:cNvPr id="28" name="Oval 27"/>
          <p:cNvSpPr/>
          <p:nvPr/>
        </p:nvSpPr>
        <p:spPr>
          <a:xfrm>
            <a:off x="4732020" y="4366260"/>
            <a:ext cx="137160" cy="13716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029200" y="4297680"/>
            <a:ext cx="2880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B223A"/>
                </a:solidFill>
                <a:latin typeface="Calibri"/>
              </a:rPr>
              <a:t>Stačí relevantní pasáže</a:t>
            </a:r>
          </a:p>
        </p:txBody>
      </p:sp>
      <p:sp>
        <p:nvSpPr>
          <p:cNvPr id="30" name="Oval 29"/>
          <p:cNvSpPr/>
          <p:nvPr/>
        </p:nvSpPr>
        <p:spPr>
          <a:xfrm>
            <a:off x="4732020" y="4777740"/>
            <a:ext cx="137160" cy="13716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029200" y="4709160"/>
            <a:ext cx="2880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B223A"/>
                </a:solidFill>
                <a:latin typeface="Calibri"/>
              </a:rPr>
              <a:t>Vyžaduje embed model</a:t>
            </a:r>
          </a:p>
        </p:txBody>
      </p:sp>
      <p:sp>
        <p:nvSpPr>
          <p:cNvPr id="32" name="Oval 31"/>
          <p:cNvSpPr/>
          <p:nvPr/>
        </p:nvSpPr>
        <p:spPr>
          <a:xfrm>
            <a:off x="4732020" y="5189220"/>
            <a:ext cx="137160" cy="13716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029200" y="5120640"/>
            <a:ext cx="2880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B223A"/>
                </a:solidFill>
                <a:latin typeface="Calibri"/>
              </a:rPr>
              <a:t>Fallback na N chunků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75320" y="1554480"/>
            <a:ext cx="3703320" cy="4572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8275320" y="1554480"/>
            <a:ext cx="3703320" cy="1005840"/>
          </a:xfrm>
          <a:prstGeom prst="rect">
            <a:avLst/>
          </a:prstGeom>
          <a:solidFill>
            <a:srgbClr val="9C4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549640" y="1719072"/>
            <a:ext cx="3154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CONSOLIDATE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49640" y="2194560"/>
            <a:ext cx="3154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Calibri"/>
              </a:rPr>
              <a:t>1 request / celý batch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49640" y="2743200"/>
            <a:ext cx="31546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 i="0">
                <a:solidFill>
                  <a:srgbClr val="1B223A"/>
                </a:solidFill>
                <a:latin typeface="Calibri"/>
              </a:rPr>
              <a:t>Pre-flight token budget check. Map-reduce fallback při přetečení.</a:t>
            </a:r>
          </a:p>
        </p:txBody>
      </p:sp>
      <p:sp>
        <p:nvSpPr>
          <p:cNvPr id="39" name="Oval 38"/>
          <p:cNvSpPr/>
          <p:nvPr/>
        </p:nvSpPr>
        <p:spPr>
          <a:xfrm>
            <a:off x="8618220" y="3954780"/>
            <a:ext cx="137160" cy="137160"/>
          </a:xfrm>
          <a:prstGeom prst="ellipse">
            <a:avLst/>
          </a:prstGeom>
          <a:solidFill>
            <a:srgbClr val="9C4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915400" y="3886200"/>
            <a:ext cx="2880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B223A"/>
                </a:solidFill>
                <a:latin typeface="Calibri"/>
              </a:rPr>
              <a:t>Dedup napříč dokumenty</a:t>
            </a:r>
          </a:p>
        </p:txBody>
      </p:sp>
      <p:sp>
        <p:nvSpPr>
          <p:cNvPr id="41" name="Oval 40"/>
          <p:cNvSpPr/>
          <p:nvPr/>
        </p:nvSpPr>
        <p:spPr>
          <a:xfrm>
            <a:off x="8618220" y="4366260"/>
            <a:ext cx="137160" cy="137160"/>
          </a:xfrm>
          <a:prstGeom prst="ellipse">
            <a:avLst/>
          </a:prstGeom>
          <a:solidFill>
            <a:srgbClr val="9C4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915400" y="4297680"/>
            <a:ext cx="2880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B223A"/>
                </a:solidFill>
                <a:latin typeface="Calibri"/>
              </a:rPr>
              <a:t>Souhrny, agregace</a:t>
            </a:r>
          </a:p>
        </p:txBody>
      </p:sp>
      <p:sp>
        <p:nvSpPr>
          <p:cNvPr id="43" name="Oval 42"/>
          <p:cNvSpPr/>
          <p:nvPr/>
        </p:nvSpPr>
        <p:spPr>
          <a:xfrm>
            <a:off x="8618220" y="4777740"/>
            <a:ext cx="137160" cy="137160"/>
          </a:xfrm>
          <a:prstGeom prst="ellipse">
            <a:avLst/>
          </a:prstGeom>
          <a:solidFill>
            <a:srgbClr val="9C4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915400" y="4709160"/>
            <a:ext cx="2880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B223A"/>
                </a:solidFill>
                <a:latin typeface="Calibri"/>
              </a:rPr>
              <a:t>Auto-refresh kontextu</a:t>
            </a:r>
          </a:p>
        </p:txBody>
      </p:sp>
      <p:sp>
        <p:nvSpPr>
          <p:cNvPr id="45" name="Oval 44"/>
          <p:cNvSpPr/>
          <p:nvPr/>
        </p:nvSpPr>
        <p:spPr>
          <a:xfrm>
            <a:off x="8618220" y="5189220"/>
            <a:ext cx="137160" cy="137160"/>
          </a:xfrm>
          <a:prstGeom prst="ellipse">
            <a:avLst/>
          </a:prstGeom>
          <a:solidFill>
            <a:srgbClr val="9C4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915400" y="5120640"/>
            <a:ext cx="2880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B223A"/>
                </a:solidFill>
                <a:latin typeface="Calibri"/>
              </a:rPr>
              <a:t>Každá fáze má cache slot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9144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5B041"/>
                </a:solidFill>
                <a:latin typeface="Calibri"/>
              </a:rPr>
              <a:t>TECHNOLOGIE A SHRNUTÍ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Postaveno na nativních macOS API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286000"/>
            <a:ext cx="1627632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62763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Swift 5.10+</a:t>
            </a:r>
          </a:p>
        </p:txBody>
      </p:sp>
      <p:sp>
        <p:nvSpPr>
          <p:cNvPr id="7" name="Rectangle 6"/>
          <p:cNvSpPr/>
          <p:nvPr/>
        </p:nvSpPr>
        <p:spPr>
          <a:xfrm>
            <a:off x="2587752" y="2286000"/>
            <a:ext cx="1152144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587752" y="2286000"/>
            <a:ext cx="115214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SwiftUI</a:t>
            </a:r>
          </a:p>
        </p:txBody>
      </p:sp>
      <p:sp>
        <p:nvSpPr>
          <p:cNvPr id="9" name="Rectangle 8"/>
          <p:cNvSpPr/>
          <p:nvPr/>
        </p:nvSpPr>
        <p:spPr>
          <a:xfrm>
            <a:off x="3877056" y="2286000"/>
            <a:ext cx="2459736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877056" y="2286000"/>
            <a:ext cx="245973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MVVM + @Observable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73952" y="2286000"/>
            <a:ext cx="1865376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73952" y="2286000"/>
            <a:ext cx="186537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async / await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76488" y="2286000"/>
            <a:ext cx="1033271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476488" y="2286000"/>
            <a:ext cx="1033271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PDFKit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46919" y="2286000"/>
            <a:ext cx="150876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646919" y="2286000"/>
            <a:ext cx="1508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Vision OCR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2907792"/>
            <a:ext cx="1865376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2907792"/>
            <a:ext cx="186537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OpenAI-compat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25496" y="2907792"/>
            <a:ext cx="2340864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825496" y="2907792"/>
            <a:ext cx="234086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macOS 14+ Sandbox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3611880"/>
            <a:ext cx="10515600" cy="2194560"/>
          </a:xfrm>
          <a:prstGeom prst="rect">
            <a:avLst/>
          </a:prstGeom>
          <a:solidFill>
            <a:srgbClr val="101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22960" y="3611880"/>
            <a:ext cx="109728" cy="2194560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143000" y="388620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5B041"/>
                </a:solidFill>
                <a:latin typeface="Calibri"/>
              </a:rPr>
              <a:t>Souhrn jednou větou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4325112"/>
            <a:ext cx="100584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SpiceHarvester proměňuje stovky PDF dokumentů ve strukturovaná data
bez cloudu — s vlastním promptem, lokálním modelem a auditem
od raw odpovědi až po finální CSV.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612648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B8C8E0"/>
                </a:solidFill>
                <a:latin typeface="Calibri"/>
              </a:rPr>
              <a:t>github.com/davidmasinzprahy · davidmasinzprahy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6126480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B8C8E0"/>
                </a:solidFill>
                <a:latin typeface="Calibri"/>
              </a:rPr>
              <a:t>10 / 10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21295C"/>
                </a:solidFill>
                <a:latin typeface="Calibri"/>
              </a:rPr>
              <a:t>Schéma architektury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1C7293"/>
                </a:solidFill>
                <a:latin typeface="Calibri"/>
              </a:rPr>
              <a:t>Dvoufázová pipeline · tok: Uživatel → UI → ViewModel → Pipeline → Services + Storage → Export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C6B82"/>
                </a:solidFill>
                <a:latin typeface="Calibri"/>
              </a:rPr>
              <a:t>13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SpiceHarvester · Lokální dávkové vytěžování PDF přes LLM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17320"/>
            <a:ext cx="1325880" cy="77724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1417320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UI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74519" y="1417320"/>
            <a:ext cx="10058400" cy="777240"/>
          </a:xfrm>
          <a:prstGeom prst="rect">
            <a:avLst/>
          </a:prstGeom>
          <a:solidFill>
            <a:srgbClr val="E7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2304288"/>
            <a:ext cx="1325880" cy="77724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2304288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ViewModel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74519" y="2304288"/>
            <a:ext cx="10058400" cy="777240"/>
          </a:xfrm>
          <a:prstGeom prst="rect">
            <a:avLst/>
          </a:prstGeom>
          <a:solidFill>
            <a:srgbClr val="DCE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02920" y="3191256"/>
            <a:ext cx="1325880" cy="77724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2920" y="3191256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Pipeline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74519" y="3191256"/>
            <a:ext cx="10058400" cy="777240"/>
          </a:xfrm>
          <a:prstGeom prst="rect">
            <a:avLst/>
          </a:prstGeom>
          <a:solidFill>
            <a:srgbClr val="D0E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02920" y="4078224"/>
            <a:ext cx="1325880" cy="77724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02920" y="4078224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Services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74519" y="4078224"/>
            <a:ext cx="10058400" cy="777240"/>
          </a:xfrm>
          <a:prstGeom prst="rect">
            <a:avLst/>
          </a:prstGeom>
          <a:solidFill>
            <a:srgbClr val="C4D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02920" y="4965192"/>
            <a:ext cx="1325880" cy="77724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02920" y="4965192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Storage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74519" y="4965192"/>
            <a:ext cx="10058400" cy="777240"/>
          </a:xfrm>
          <a:prstGeom prst="rect">
            <a:avLst/>
          </a:prstGeom>
          <a:solidFill>
            <a:srgbClr val="B7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2011679" y="1508760"/>
            <a:ext cx="2194560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103119" y="1554480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SpiceHarvesterApp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19" y="1819656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C6B82"/>
                </a:solidFill>
                <a:latin typeface="Calibri"/>
              </a:rPr>
              <a:t>WindowGroup + Settings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43399" y="1508760"/>
            <a:ext cx="1828800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434839" y="1554480"/>
            <a:ext cx="16459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ContentView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39" y="1819656"/>
            <a:ext cx="16459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C6B82"/>
                </a:solidFill>
                <a:latin typeface="Calibri"/>
              </a:rPr>
              <a:t>HSplitView · Toolbar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59" y="1508760"/>
            <a:ext cx="1691640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00799" y="1554480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SettingsView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799" y="1819656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C6B82"/>
                </a:solidFill>
                <a:latin typeface="Calibri"/>
              </a:rPr>
              <a:t>Cmd+, Předvolby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38159" y="1508760"/>
            <a:ext cx="1554480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229599" y="1554480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HelpSheet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599" y="1819656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C6B82"/>
                </a:solidFill>
                <a:latin typeface="Calibri"/>
              </a:rPr>
              <a:t>Cmd+? Nápověda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011679" y="2395728"/>
            <a:ext cx="9784080" cy="594360"/>
          </a:xfrm>
          <a:prstGeom prst="rect">
            <a:avLst/>
          </a:prstGeom>
          <a:solidFill>
            <a:srgbClr val="065A82"/>
          </a:solidFill>
          <a:ln w="9525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103119" y="2441448"/>
            <a:ext cx="9601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SHAppViewModel  ·  @Observable @MainActor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03119" y="2706624"/>
            <a:ext cx="9601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CCE0EE"/>
                </a:solidFill>
                <a:latin typeface="Calibri"/>
              </a:rPr>
              <a:t>Orchestrace běhu · executeRun · cancelRun · parameter conflicts · auto-context refresh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011679" y="3282696"/>
            <a:ext cx="3108960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2103119" y="3328416"/>
            <a:ext cx="29260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SHPreprocessingPipeline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103119" y="3593592"/>
            <a:ext cx="29260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C6B82"/>
                </a:solidFill>
                <a:latin typeface="Calibri"/>
              </a:rPr>
              <a:t>FÁZE 1 · scan / hash / PDF / OCR / clean / cache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303519" y="3282696"/>
            <a:ext cx="3383280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394959" y="3328416"/>
            <a:ext cx="3200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SHExtractionPipeline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94959" y="3593592"/>
            <a:ext cx="3200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C6B82"/>
                </a:solidFill>
                <a:latin typeface="Calibri"/>
              </a:rPr>
              <a:t>FÁZE 2 · FAST / SEARCH / CONSOLIDATE + map-reduce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869679" y="3282696"/>
            <a:ext cx="2743200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961119" y="3328416"/>
            <a:ext cx="25603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SHQueueManager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961119" y="3593592"/>
            <a:ext cx="25603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C6B82"/>
                </a:solidFill>
                <a:latin typeface="Calibri"/>
              </a:rPr>
              <a:t>FIFO async semaphore · cancel-safe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011679" y="4169664"/>
            <a:ext cx="1554480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2103119" y="4215384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SHFileScan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103119" y="4480560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C6B82"/>
                </a:solidFill>
                <a:latin typeface="Calibri"/>
              </a:rPr>
              <a:t>scan · SHA-256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599" y="4169664"/>
            <a:ext cx="1554480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3749039" y="4215384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SHPDFParser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49039" y="4480560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C6B82"/>
                </a:solidFill>
                <a:latin typeface="Calibri"/>
              </a:rPr>
              <a:t>PDFKit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303519" y="4169664"/>
            <a:ext cx="1554480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394959" y="4215384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SHVisionOCR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394959" y="4480560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C6B82"/>
                </a:solidFill>
                <a:latin typeface="Calibri"/>
              </a:rPr>
              <a:t>OCR fallback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949439" y="4169664"/>
            <a:ext cx="1554480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7040879" y="4215384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SHTextCleaning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40879" y="4480560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C6B82"/>
                </a:solidFill>
                <a:latin typeface="Calibri"/>
              </a:rPr>
              <a:t>anchored regex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595359" y="4169664"/>
            <a:ext cx="1554480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8686799" y="4215384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SHOpenAIClient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799" y="4480560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C6B82"/>
                </a:solidFill>
                <a:latin typeface="Calibri"/>
              </a:rPr>
              <a:t>OpenAI-compat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241279" y="4169664"/>
            <a:ext cx="1554480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10332719" y="4215384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SHPromptAnalyzer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332719" y="4480560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C6B82"/>
                </a:solidFill>
                <a:latin typeface="Calibri"/>
              </a:rPr>
              <a:t>mode hint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011679" y="5056632"/>
            <a:ext cx="1883664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2103119" y="5102352"/>
            <a:ext cx="17007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SHCacheManager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103119" y="5367528"/>
            <a:ext cx="17007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C6B82"/>
                </a:solidFill>
                <a:latin typeface="Calibri"/>
              </a:rPr>
              <a:t>per-dokument JSON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986783" y="5056632"/>
            <a:ext cx="1883664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4078223" y="5102352"/>
            <a:ext cx="17007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SHInferenceCache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078223" y="5367528"/>
            <a:ext cx="17007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C6B82"/>
                </a:solidFill>
                <a:latin typeface="Calibri"/>
              </a:rPr>
              <a:t>per-inference JSON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961887" y="5056632"/>
            <a:ext cx="1883664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6053327" y="5102352"/>
            <a:ext cx="17007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SHProcessingLogger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053327" y="5367528"/>
            <a:ext cx="17007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C6B82"/>
                </a:solidFill>
                <a:latin typeface="Calibri"/>
              </a:rPr>
              <a:t>tail · ISO-8601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936991" y="5056632"/>
            <a:ext cx="1883664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8028431" y="5102352"/>
            <a:ext cx="17007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SHExportService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028431" y="5367528"/>
            <a:ext cx="17007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C6B82"/>
                </a:solidFill>
                <a:latin typeface="Calibri"/>
              </a:rPr>
              <a:t>JSON / CSV / TXT / raw</a:t>
            </a:r>
          </a:p>
        </p:txBody>
      </p:sp>
      <p:sp>
        <p:nvSpPr>
          <p:cNvPr id="77" name="Rectangle 76"/>
          <p:cNvSpPr/>
          <p:nvPr/>
        </p:nvSpPr>
        <p:spPr>
          <a:xfrm>
            <a:off x="9912095" y="5056632"/>
            <a:ext cx="1883664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10003535" y="5102352"/>
            <a:ext cx="17007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SHConfigStore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003535" y="5367528"/>
            <a:ext cx="17007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C6B82"/>
                </a:solidFill>
                <a:latin typeface="Calibri"/>
              </a:rPr>
              <a:t>UserDefaults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21295C"/>
                </a:solidFill>
                <a:latin typeface="Calibri"/>
              </a:rPr>
              <a:t>Datový tok: dvoufázová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1C7293"/>
                </a:solidFill>
                <a:latin typeface="Calibri"/>
              </a:rPr>
              <a:t>Cache na obou úrovních = instant hit při ladění promptu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C6B82"/>
                </a:solidFill>
                <a:latin typeface="Calibri"/>
              </a:rPr>
              <a:t>14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SpiceHarvester · Lokální dávkové vytěžování PDF přes LLM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828800"/>
            <a:ext cx="1828800" cy="173736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219456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F5B041"/>
                </a:solidFill>
                <a:latin typeface="Calibri"/>
              </a:rPr>
              <a:t>FÁZE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514600"/>
            <a:ext cx="1828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Předzpracování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97180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1">
                <a:solidFill>
                  <a:srgbClr val="B8C8E0"/>
                </a:solidFill>
                <a:latin typeface="Calibri"/>
              </a:rPr>
              <a:t>→ JSON cache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14600" y="2057400"/>
            <a:ext cx="1508760" cy="1280160"/>
          </a:xfrm>
          <a:prstGeom prst="rect">
            <a:avLst/>
          </a:prstGeom>
          <a:solidFill>
            <a:srgbClr val="E7EEF6"/>
          </a:solidFill>
          <a:ln w="63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606040" y="2331720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1295C"/>
                </a:solidFill>
                <a:latin typeface="Calibri"/>
              </a:rPr>
              <a:t>Scan PDF
ve složce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027932" y="2697480"/>
            <a:ext cx="82296" cy="0"/>
          </a:xfrm>
          <a:prstGeom prst="bentConnector3">
            <a:avLst/>
          </a:prstGeom>
          <a:ln w="22225">
            <a:solidFill>
              <a:srgbClr val="065A82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4114800" y="2057400"/>
            <a:ext cx="1508760" cy="1280160"/>
          </a:xfrm>
          <a:prstGeom prst="rect">
            <a:avLst/>
          </a:prstGeom>
          <a:solidFill>
            <a:srgbClr val="E7EEF6"/>
          </a:solidFill>
          <a:ln w="63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206240" y="2331720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1295C"/>
                </a:solidFill>
                <a:latin typeface="Calibri"/>
              </a:rPr>
              <a:t>SHA-256
hash souboru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628132" y="2697480"/>
            <a:ext cx="82296" cy="0"/>
          </a:xfrm>
          <a:prstGeom prst="bentConnector3">
            <a:avLst/>
          </a:prstGeom>
          <a:ln w="22225">
            <a:solidFill>
              <a:srgbClr val="065A82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5715000" y="2057400"/>
            <a:ext cx="1508760" cy="1280160"/>
          </a:xfrm>
          <a:prstGeom prst="rect">
            <a:avLst/>
          </a:prstGeom>
          <a:solidFill>
            <a:srgbClr val="E7EEF6"/>
          </a:solidFill>
          <a:ln w="63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806440" y="2331720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1295C"/>
                </a:solidFill>
                <a:latin typeface="Calibri"/>
              </a:rPr>
              <a:t>PDFKit
extrakce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228332" y="2697480"/>
            <a:ext cx="82296" cy="0"/>
          </a:xfrm>
          <a:prstGeom prst="bentConnector3">
            <a:avLst/>
          </a:prstGeom>
          <a:ln w="22225">
            <a:solidFill>
              <a:srgbClr val="065A82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315200" y="2057400"/>
            <a:ext cx="1508760" cy="1280160"/>
          </a:xfrm>
          <a:prstGeom prst="rect">
            <a:avLst/>
          </a:prstGeom>
          <a:solidFill>
            <a:srgbClr val="E7EEF6"/>
          </a:solidFill>
          <a:ln w="63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406640" y="2331720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1295C"/>
                </a:solidFill>
                <a:latin typeface="Calibri"/>
              </a:rPr>
              <a:t>Vision OCR
fallback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828532" y="2697480"/>
            <a:ext cx="82296" cy="0"/>
          </a:xfrm>
          <a:prstGeom prst="bentConnector3">
            <a:avLst/>
          </a:prstGeom>
          <a:ln w="22225">
            <a:solidFill>
              <a:srgbClr val="065A82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8915400" y="2057400"/>
            <a:ext cx="1508760" cy="1280160"/>
          </a:xfrm>
          <a:prstGeom prst="rect">
            <a:avLst/>
          </a:prstGeom>
          <a:solidFill>
            <a:srgbClr val="E7EEF6"/>
          </a:solidFill>
          <a:ln w="63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006840" y="2331720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1295C"/>
                </a:solidFill>
                <a:latin typeface="Calibri"/>
              </a:rPr>
              <a:t>Text
cleaner v2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428732" y="2697480"/>
            <a:ext cx="82296" cy="0"/>
          </a:xfrm>
          <a:prstGeom prst="bentConnector3">
            <a:avLst/>
          </a:prstGeom>
          <a:ln w="22225">
            <a:solidFill>
              <a:srgbClr val="065A82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10515600" y="2057400"/>
            <a:ext cx="1508760" cy="1280160"/>
          </a:xfrm>
          <a:prstGeom prst="rect">
            <a:avLst/>
          </a:prstGeom>
          <a:solidFill>
            <a:srgbClr val="E7EEF6"/>
          </a:solidFill>
          <a:ln w="63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607040" y="2331720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1295C"/>
                </a:solidFill>
                <a:latin typeface="Calibri"/>
              </a:rPr>
              <a:t>Per-doc
cache (JSON)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4114800"/>
            <a:ext cx="1828800" cy="173736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02920" y="448056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F5B041"/>
                </a:solidFill>
                <a:latin typeface="Calibri"/>
              </a:rPr>
              <a:t>FÁZE 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4800600"/>
            <a:ext cx="1828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Extrakce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525780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1">
                <a:solidFill>
                  <a:srgbClr val="CCE6EE"/>
                </a:solidFill>
                <a:latin typeface="Calibri"/>
              </a:rPr>
              <a:t>→ JSON / CSV / TXT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514600" y="4343400"/>
            <a:ext cx="1508760" cy="1280160"/>
          </a:xfrm>
          <a:prstGeom prst="rect">
            <a:avLst/>
          </a:prstGeom>
          <a:solidFill>
            <a:srgbClr val="DCEEF3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2606040" y="4617720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1295C"/>
                </a:solidFill>
                <a:latin typeface="Calibri"/>
              </a:rPr>
              <a:t>Inference
cache lookup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027932" y="4983480"/>
            <a:ext cx="82296" cy="0"/>
          </a:xfrm>
          <a:prstGeom prst="bentConnector3">
            <a:avLst/>
          </a:prstGeom>
          <a:ln w="22225">
            <a:solidFill>
              <a:srgbClr val="1C7293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4114800" y="4343400"/>
            <a:ext cx="1508760" cy="1280160"/>
          </a:xfrm>
          <a:prstGeom prst="rect">
            <a:avLst/>
          </a:prstGeom>
          <a:solidFill>
            <a:srgbClr val="DCEEF3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206240" y="4617720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1295C"/>
                </a:solidFill>
                <a:latin typeface="Calibri"/>
              </a:rPr>
              <a:t>Pre-flight
token check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628132" y="4983480"/>
            <a:ext cx="82296" cy="0"/>
          </a:xfrm>
          <a:prstGeom prst="bentConnector3">
            <a:avLst/>
          </a:prstGeom>
          <a:ln w="22225">
            <a:solidFill>
              <a:srgbClr val="1C7293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5715000" y="4343400"/>
            <a:ext cx="1508760" cy="1280160"/>
          </a:xfrm>
          <a:prstGeom prst="rect">
            <a:avLst/>
          </a:prstGeom>
          <a:solidFill>
            <a:srgbClr val="DCEEF3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806440" y="4617720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1295C"/>
                </a:solidFill>
                <a:latin typeface="Calibri"/>
              </a:rPr>
              <a:t>Lokální LLM
(LM Studio)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7228332" y="4983480"/>
            <a:ext cx="82296" cy="0"/>
          </a:xfrm>
          <a:prstGeom prst="bentConnector3">
            <a:avLst/>
          </a:prstGeom>
          <a:ln w="22225">
            <a:solidFill>
              <a:srgbClr val="1C7293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7315200" y="4343400"/>
            <a:ext cx="1508760" cy="1280160"/>
          </a:xfrm>
          <a:prstGeom prst="rect">
            <a:avLst/>
          </a:prstGeom>
          <a:solidFill>
            <a:srgbClr val="DCEEF3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406640" y="4617720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1295C"/>
                </a:solidFill>
                <a:latin typeface="Calibri"/>
              </a:rPr>
              <a:t>Best-effort
decode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8828532" y="4983480"/>
            <a:ext cx="82296" cy="0"/>
          </a:xfrm>
          <a:prstGeom prst="bentConnector3">
            <a:avLst/>
          </a:prstGeom>
          <a:ln w="22225">
            <a:solidFill>
              <a:srgbClr val="1C7293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8915400" y="4343400"/>
            <a:ext cx="1508760" cy="1280160"/>
          </a:xfrm>
          <a:prstGeom prst="rect">
            <a:avLst/>
          </a:prstGeom>
          <a:solidFill>
            <a:srgbClr val="DCEEF3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9006840" y="4617720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1295C"/>
                </a:solidFill>
                <a:latin typeface="Calibri"/>
              </a:rPr>
              <a:t>Save raw +
canonical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0428732" y="4983480"/>
            <a:ext cx="82296" cy="0"/>
          </a:xfrm>
          <a:prstGeom prst="bentConnector3">
            <a:avLst/>
          </a:prstGeom>
          <a:ln w="22225">
            <a:solidFill>
              <a:srgbClr val="1C7293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10515600" y="4343400"/>
            <a:ext cx="1508760" cy="1280160"/>
          </a:xfrm>
          <a:prstGeom prst="rect">
            <a:avLst/>
          </a:prstGeom>
          <a:solidFill>
            <a:srgbClr val="DCEEF3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10607040" y="4617720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1295C"/>
                </a:solidFill>
                <a:latin typeface="Calibri"/>
              </a:rPr>
              <a:t>Export do
výstupní složky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6172200" y="3611880"/>
            <a:ext cx="0" cy="457200"/>
          </a:xfrm>
          <a:prstGeom prst="bentConnector3">
            <a:avLst/>
          </a:prstGeom>
          <a:ln w="38100">
            <a:solidFill>
              <a:srgbClr val="F5B041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6263640" y="373075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1">
                <a:solidFill>
                  <a:srgbClr val="F5B041"/>
                </a:solidFill>
                <a:latin typeface="Calibri"/>
              </a:rPr>
              <a:t>cleanedText (z cache)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46304"/>
            <a:ext cx="164592" cy="6711696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1005840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 dirty="0" err="1">
                <a:solidFill>
                  <a:srgbClr val="21295C"/>
                </a:solidFill>
                <a:latin typeface="Calibri"/>
              </a:rPr>
              <a:t>Klíčové</a:t>
            </a:r>
            <a:r>
              <a:rPr sz="3000" b="1" i="0" dirty="0">
                <a:solidFill>
                  <a:srgbClr val="21295C"/>
                </a:solidFill>
                <a:latin typeface="Calibri"/>
              </a:rPr>
              <a:t> </a:t>
            </a:r>
            <a:r>
              <a:rPr lang="cs-CZ" sz="3000" b="1" i="0" dirty="0">
                <a:solidFill>
                  <a:srgbClr val="21295C"/>
                </a:solidFill>
                <a:latin typeface="Calibri"/>
              </a:rPr>
              <a:t>aplikační </a:t>
            </a:r>
            <a:r>
              <a:rPr sz="3000" b="1" i="0" dirty="0" err="1">
                <a:solidFill>
                  <a:srgbClr val="21295C"/>
                </a:solidFill>
                <a:latin typeface="Calibri"/>
              </a:rPr>
              <a:t>funkce</a:t>
            </a:r>
            <a:endParaRPr sz="3000" b="1" i="0" dirty="0">
              <a:solidFill>
                <a:srgbClr val="21295C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1C7293"/>
                </a:solidFill>
                <a:latin typeface="Calibri"/>
              </a:rPr>
              <a:t>Co dělá SpiceHarvester praktickým nástrojem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C6B82"/>
                </a:solidFill>
                <a:latin typeface="Calibri"/>
              </a:rPr>
              <a:t>15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SpiceHarvester · Lokální dávkové vytěžování PDF přes LLM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63040"/>
            <a:ext cx="5650992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2920" y="1463040"/>
            <a:ext cx="73152" cy="107899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822960" y="1773936"/>
            <a:ext cx="457200" cy="45720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1819656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609344"/>
            <a:ext cx="455371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21295C"/>
                </a:solidFill>
                <a:latin typeface="Calibri"/>
              </a:rPr>
              <a:t>Lokální zpracování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1938528"/>
            <a:ext cx="4553712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 i="0">
                <a:solidFill>
                  <a:srgbClr val="5C6B82"/>
                </a:solidFill>
                <a:latin typeface="Calibri"/>
              </a:rPr>
              <a:t>Vše běží lokálně přes OpenAI-kompatibilní server (LM Studio / MLX). Data nikdy neopouští počítač.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91072" y="1463040"/>
            <a:ext cx="5650992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91072" y="1463040"/>
            <a:ext cx="73152" cy="107899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6611112" y="1773936"/>
            <a:ext cx="457200" cy="45720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611112" y="1819656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51192" y="1609344"/>
            <a:ext cx="455371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21295C"/>
                </a:solidFill>
                <a:latin typeface="Calibri"/>
              </a:rPr>
              <a:t>Dvoustupňová cache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51192" y="1938528"/>
            <a:ext cx="4553712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 i="0">
                <a:solidFill>
                  <a:srgbClr val="5C6B82"/>
                </a:solidFill>
                <a:latin typeface="Calibri"/>
              </a:rPr>
              <a:t>Per-dokument cache (SHA-256 → cleanedText) + per-inference cache (prompt + model + docs). Iterace promptu = okamžitý výsledek.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633472"/>
            <a:ext cx="5650992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02920" y="2633472"/>
            <a:ext cx="73152" cy="107899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822960" y="2944368"/>
            <a:ext cx="457200" cy="45720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2960" y="2990088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2779776"/>
            <a:ext cx="455371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21295C"/>
                </a:solidFill>
                <a:latin typeface="Calibri"/>
              </a:rPr>
              <a:t>OCR fallback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3040" y="3108960"/>
            <a:ext cx="4553712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 i="0">
                <a:solidFill>
                  <a:srgbClr val="5C6B82"/>
                </a:solidFill>
                <a:latin typeface="Calibri"/>
              </a:rPr>
              <a:t>PDFKit pro nativní PDF, Apple Vision OCR pro skeny. Volitelně Vision → VLM pipeline pro nejtěžší případy.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91072" y="2633472"/>
            <a:ext cx="5650992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291072" y="2633472"/>
            <a:ext cx="73152" cy="107899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6611112" y="2944368"/>
            <a:ext cx="457200" cy="45720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611112" y="2990088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51192" y="2779776"/>
            <a:ext cx="455371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21295C"/>
                </a:solidFill>
                <a:latin typeface="Calibri"/>
              </a:rPr>
              <a:t>Tři režimy extrakce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51192" y="3108960"/>
            <a:ext cx="4553712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 i="0">
                <a:solidFill>
                  <a:srgbClr val="5C6B82"/>
                </a:solidFill>
                <a:latin typeface="Calibri"/>
              </a:rPr>
              <a:t>FAST pro rychlost, SEARCH pro dlouhé texty s RAG, CONSOLIDATE pro souhrny napříč celým batchem.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3803904"/>
            <a:ext cx="5650992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02920" y="3803904"/>
            <a:ext cx="73152" cy="107899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822960" y="4114800"/>
            <a:ext cx="457200" cy="45720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22960" y="4160520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63040" y="3950208"/>
            <a:ext cx="455371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21295C"/>
                </a:solidFill>
                <a:latin typeface="Calibri"/>
              </a:rPr>
              <a:t>Auto-detekce kontextu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63040" y="4279392"/>
            <a:ext cx="4553712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 i="0">
                <a:solidFill>
                  <a:srgbClr val="5C6B82"/>
                </a:solidFill>
                <a:latin typeface="Calibri"/>
              </a:rPr>
              <a:t>Aplikace si přečte loaded_context_length z LM Studia a před velkým CONSOLIDATE batchem ho znovu zkontroluje.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91072" y="3803904"/>
            <a:ext cx="5650992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6291072" y="3803904"/>
            <a:ext cx="73152" cy="107899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6611112" y="4114800"/>
            <a:ext cx="457200" cy="45720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611112" y="4160520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251192" y="3950208"/>
            <a:ext cx="455371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21295C"/>
                </a:solidFill>
                <a:latin typeface="Calibri"/>
              </a:rPr>
              <a:t>Robustní cancel &amp; retry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51192" y="4279392"/>
            <a:ext cx="4553712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 i="0">
                <a:solidFill>
                  <a:srgbClr val="5C6B82"/>
                </a:solidFill>
                <a:latin typeface="Calibri"/>
              </a:rPr>
              <a:t>Cooperative cancellation napříč pipeline. Retry na 502/503/504, timeout, connection-lost s exponential backoff.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4974336"/>
            <a:ext cx="5650992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502920" y="4974336"/>
            <a:ext cx="73152" cy="107899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822960" y="5285232"/>
            <a:ext cx="457200" cy="45720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22960" y="5330952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63040" y="5120640"/>
            <a:ext cx="455371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21295C"/>
                </a:solidFill>
                <a:latin typeface="Calibri"/>
              </a:rPr>
              <a:t>Parameter conflict detection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463040" y="5449824"/>
            <a:ext cx="4553712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 i="0">
                <a:solidFill>
                  <a:srgbClr val="5C6B82"/>
                </a:solidFill>
                <a:latin typeface="Calibri"/>
              </a:rPr>
              <a:t>SHPromptAnalyzer rozpozná, že prompt nesedí s režimem, a nabídne jednoklikové přepnutí žlutým bannerem.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91072" y="4974336"/>
            <a:ext cx="5650992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6291072" y="4974336"/>
            <a:ext cx="73152" cy="107899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51"/>
          <p:cNvSpPr/>
          <p:nvPr/>
        </p:nvSpPr>
        <p:spPr>
          <a:xfrm>
            <a:off x="6611112" y="5285232"/>
            <a:ext cx="457200" cy="45720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611112" y="5330952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51192" y="5120640"/>
            <a:ext cx="455371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21295C"/>
                </a:solidFill>
                <a:latin typeface="Calibri"/>
              </a:rPr>
              <a:t>Flexibilní export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251192" y="5449824"/>
            <a:ext cx="4553712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 i="0">
                <a:solidFill>
                  <a:srgbClr val="5C6B82"/>
                </a:solidFill>
                <a:latin typeface="Calibri"/>
              </a:rPr>
              <a:t>JSON kanonický, CSV s UTF-8 BOM (Excel-friendly), TXT, raw odpovědi modelu pro audit, agregát raw_responses.json.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64924-8D0F-F052-5A8C-598AB943B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extovéPole 55">
            <a:extLst>
              <a:ext uri="{FF2B5EF4-FFF2-40B4-BE49-F238E27FC236}">
                <a16:creationId xmlns:a16="http://schemas.microsoft.com/office/drawing/2014/main" id="{FD0B054E-3CB5-0078-C218-40A072024161}"/>
              </a:ext>
            </a:extLst>
          </p:cNvPr>
          <p:cNvSpPr txBox="1"/>
          <p:nvPr/>
        </p:nvSpPr>
        <p:spPr>
          <a:xfrm>
            <a:off x="2002818" y="3013501"/>
            <a:ext cx="818605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cs-CZ" sz="4800" b="1" dirty="0"/>
              <a:t>Děkuji za pozornost</a:t>
            </a:r>
          </a:p>
        </p:txBody>
      </p:sp>
    </p:spTree>
    <p:extLst>
      <p:ext uri="{BB962C8B-B14F-4D97-AF65-F5344CB8AC3E}">
        <p14:creationId xmlns:p14="http://schemas.microsoft.com/office/powerpoint/2010/main" val="14131845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2889</TotalTime>
  <Words>2440</Words>
  <Application>Microsoft Macintosh PowerPoint</Application>
  <PresentationFormat>Širokoúhlá obrazovka</PresentationFormat>
  <Paragraphs>383</Paragraphs>
  <Slides>16</Slides>
  <Notes>0</Notes>
  <HiddenSlides>0</HiddenSlides>
  <MMClips>0</MMClips>
  <ScaleCrop>false</ScaleCrop>
  <HeadingPairs>
    <vt:vector size="6" baseType="variant">
      <vt:variant>
        <vt:lpstr>Použitá písma</vt:lpstr>
      </vt:variant>
      <vt:variant>
        <vt:i4>4</vt:i4>
      </vt:variant>
      <vt:variant>
        <vt:lpstr>Motiv</vt:lpstr>
      </vt:variant>
      <vt:variant>
        <vt:i4>1</vt:i4>
      </vt:variant>
      <vt:variant>
        <vt:lpstr>Nadpisy snímků</vt:lpstr>
      </vt:variant>
      <vt:variant>
        <vt:i4>16</vt:i4>
      </vt:variant>
    </vt:vector>
  </HeadingPairs>
  <TitlesOfParts>
    <vt:vector size="21" baseType="lpstr">
      <vt:lpstr>Aptos</vt:lpstr>
      <vt:lpstr>Arial</vt:lpstr>
      <vt:lpstr>Calibri</vt:lpstr>
      <vt:lpstr>Menlo</vt:lpstr>
      <vt:lpstr>Office Theme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David Mašín</cp:lastModifiedBy>
  <cp:revision>9</cp:revision>
  <dcterms:created xsi:type="dcterms:W3CDTF">2013-01-27T09:14:16Z</dcterms:created>
  <dcterms:modified xsi:type="dcterms:W3CDTF">2026-05-03T06:35:50Z</dcterms:modified>
  <cp:category/>
</cp:coreProperties>
</file>